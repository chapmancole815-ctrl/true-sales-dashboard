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66" r:id="rId5"/>
    <p:sldId id="265" r:id="rId6"/>
    <p:sldId id="270" r:id="rId7"/>
    <p:sldId id="269" r:id="rId8"/>
    <p:sldId id="260" r:id="rId9"/>
    <p:sldId id="272" r:id="rId10"/>
    <p:sldId id="273" r:id="rId11"/>
    <p:sldId id="258" r:id="rId12"/>
    <p:sldId id="276" r:id="rId13"/>
    <p:sldId id="267" r:id="rId14"/>
    <p:sldId id="262" r:id="rId15"/>
    <p:sldId id="263" r:id="rId16"/>
    <p:sldId id="278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BE37D-25F2-4209-A711-D0D91574E7CE}" v="7" dt="2026-03-02T17:02:18.3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e Chapman" userId="3c6a7f8a-ae22-4327-80aa-2b87da093d35" providerId="ADAL" clId="{5493098C-3D90-4315-80E0-FE4954DC9A55}"/>
    <pc:docChg chg="undo custSel addSld delSld modSld">
      <pc:chgData name="Cole Chapman" userId="3c6a7f8a-ae22-4327-80aa-2b87da093d35" providerId="ADAL" clId="{5493098C-3D90-4315-80E0-FE4954DC9A55}" dt="2026-03-02T17:02:18.313" v="29" actId="20577"/>
      <pc:docMkLst>
        <pc:docMk/>
      </pc:docMkLst>
      <pc:sldChg chg="modSp del mod">
        <pc:chgData name="Cole Chapman" userId="3c6a7f8a-ae22-4327-80aa-2b87da093d35" providerId="ADAL" clId="{5493098C-3D90-4315-80E0-FE4954DC9A55}" dt="2026-03-02T17:01:27.054" v="20" actId="2696"/>
        <pc:sldMkLst>
          <pc:docMk/>
          <pc:sldMk cId="0" sldId="258"/>
        </pc:sldMkLst>
        <pc:spChg chg="mod">
          <ac:chgData name="Cole Chapman" userId="3c6a7f8a-ae22-4327-80aa-2b87da093d35" providerId="ADAL" clId="{5493098C-3D90-4315-80E0-FE4954DC9A55}" dt="2026-03-02T17:00:42.821" v="7" actId="1076"/>
          <ac:spMkLst>
            <pc:docMk/>
            <pc:sldMk cId="0" sldId="258"/>
            <ac:spMk id="7" creationId="{4F25B4BE-4D69-BA60-D60B-FDDB035BF3E4}"/>
          </ac:spMkLst>
        </pc:spChg>
        <pc:spChg chg="mod">
          <ac:chgData name="Cole Chapman" userId="3c6a7f8a-ae22-4327-80aa-2b87da093d35" providerId="ADAL" clId="{5493098C-3D90-4315-80E0-FE4954DC9A55}" dt="2026-03-02T17:00:46.174" v="13" actId="20577"/>
          <ac:spMkLst>
            <pc:docMk/>
            <pc:sldMk cId="0" sldId="258"/>
            <ac:spMk id="19" creationId="{348BAF5B-38C4-CBF6-9AE1-A88B4C565B02}"/>
          </ac:spMkLst>
        </pc:spChg>
        <pc:spChg chg="mod">
          <ac:chgData name="Cole Chapman" userId="3c6a7f8a-ae22-4327-80aa-2b87da093d35" providerId="ADAL" clId="{5493098C-3D90-4315-80E0-FE4954DC9A55}" dt="2026-03-02T17:00:39.133" v="5" actId="20577"/>
          <ac:spMkLst>
            <pc:docMk/>
            <pc:sldMk cId="0" sldId="258"/>
            <ac:spMk id="20" creationId="{9A617696-682B-AF14-2CFF-7D65F49373FA}"/>
          </ac:spMkLst>
        </pc:spChg>
        <pc:spChg chg="mod">
          <ac:chgData name="Cole Chapman" userId="3c6a7f8a-ae22-4327-80aa-2b87da093d35" providerId="ADAL" clId="{5493098C-3D90-4315-80E0-FE4954DC9A55}" dt="2026-03-02T17:00:51.320" v="19" actId="20577"/>
          <ac:spMkLst>
            <pc:docMk/>
            <pc:sldMk cId="0" sldId="258"/>
            <ac:spMk id="21" creationId="{BECFFDF5-EAEA-8745-E145-57CCF747E4BD}"/>
          </ac:spMkLst>
        </pc:spChg>
      </pc:sldChg>
      <pc:sldChg chg="add mod setBg modShow">
        <pc:chgData name="Cole Chapman" userId="3c6a7f8a-ae22-4327-80aa-2b87da093d35" providerId="ADAL" clId="{5493098C-3D90-4315-80E0-FE4954DC9A55}" dt="2026-03-02T17:01:48.002" v="22" actId="729"/>
        <pc:sldMkLst>
          <pc:docMk/>
          <pc:sldMk cId="3183845700" sldId="258"/>
        </pc:sldMkLst>
      </pc:sldChg>
      <pc:sldChg chg="modSp">
        <pc:chgData name="Cole Chapman" userId="3c6a7f8a-ae22-4327-80aa-2b87da093d35" providerId="ADAL" clId="{5493098C-3D90-4315-80E0-FE4954DC9A55}" dt="2026-03-02T17:02:18.313" v="29" actId="20577"/>
        <pc:sldMkLst>
          <pc:docMk/>
          <pc:sldMk cId="0" sldId="260"/>
        </pc:sldMkLst>
        <pc:graphicFrameChg chg="mod">
          <ac:chgData name="Cole Chapman" userId="3c6a7f8a-ae22-4327-80aa-2b87da093d35" providerId="ADAL" clId="{5493098C-3D90-4315-80E0-FE4954DC9A55}" dt="2026-03-02T17:02:18.313" v="29" actId="20577"/>
          <ac:graphicFrameMkLst>
            <pc:docMk/>
            <pc:sldMk cId="0" sldId="260"/>
            <ac:graphicFrameMk id="8" creationId="{8C1E9EC1-690C-C3E0-D694-B1040075BAAE}"/>
          </ac:graphicFrameMkLst>
        </pc:graphicFrameChg>
      </pc:sldChg>
      <pc:sldChg chg="mod modShow">
        <pc:chgData name="Cole Chapman" userId="3c6a7f8a-ae22-4327-80aa-2b87da093d35" providerId="ADAL" clId="{5493098C-3D90-4315-80E0-FE4954DC9A55}" dt="2026-03-02T17:01:55.428" v="23" actId="729"/>
        <pc:sldMkLst>
          <pc:docMk/>
          <pc:sldMk cId="0" sldId="262"/>
        </pc:sldMkLst>
      </pc:sldChg>
      <pc:sldChg chg="mod modShow">
        <pc:chgData name="Cole Chapman" userId="3c6a7f8a-ae22-4327-80aa-2b87da093d35" providerId="ADAL" clId="{5493098C-3D90-4315-80E0-FE4954DC9A55}" dt="2026-03-02T17:01:55.428" v="23" actId="729"/>
        <pc:sldMkLst>
          <pc:docMk/>
          <pc:sldMk cId="0" sldId="263"/>
        </pc:sldMkLst>
      </pc:sldChg>
      <pc:sldChg chg="del">
        <pc:chgData name="Cole Chapman" userId="3c6a7f8a-ae22-4327-80aa-2b87da093d35" providerId="ADAL" clId="{5493098C-3D90-4315-80E0-FE4954DC9A55}" dt="2026-03-02T17:01:27.054" v="20" actId="2696"/>
        <pc:sldMkLst>
          <pc:docMk/>
          <pc:sldMk cId="2151555466" sldId="267"/>
        </pc:sldMkLst>
      </pc:sldChg>
      <pc:sldChg chg="add mod setBg modShow">
        <pc:chgData name="Cole Chapman" userId="3c6a7f8a-ae22-4327-80aa-2b87da093d35" providerId="ADAL" clId="{5493098C-3D90-4315-80E0-FE4954DC9A55}" dt="2026-03-02T17:01:48.002" v="22" actId="729"/>
        <pc:sldMkLst>
          <pc:docMk/>
          <pc:sldMk cId="3305655757" sldId="267"/>
        </pc:sldMkLst>
      </pc:sldChg>
      <pc:sldChg chg="del">
        <pc:chgData name="Cole Chapman" userId="3c6a7f8a-ae22-4327-80aa-2b87da093d35" providerId="ADAL" clId="{5493098C-3D90-4315-80E0-FE4954DC9A55}" dt="2026-03-02T17:01:27.054" v="20" actId="2696"/>
        <pc:sldMkLst>
          <pc:docMk/>
          <pc:sldMk cId="1203766420" sldId="276"/>
        </pc:sldMkLst>
      </pc:sldChg>
      <pc:sldChg chg="add mod setBg modShow">
        <pc:chgData name="Cole Chapman" userId="3c6a7f8a-ae22-4327-80aa-2b87da093d35" providerId="ADAL" clId="{5493098C-3D90-4315-80E0-FE4954DC9A55}" dt="2026-03-02T17:01:48.002" v="22" actId="729"/>
        <pc:sldMkLst>
          <pc:docMk/>
          <pc:sldMk cId="4131124778" sldId="276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7.4618907930626324E-2"/>
          <c:y val="2.6587301587301587E-2"/>
          <c:w val="0.78790878264399955"/>
          <c:h val="0.885555555555555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YTD Sales ($M)</c:v>
                </c:pt>
              </c:strCache>
            </c:strRef>
          </c:tx>
          <c:spPr>
            <a:solidFill>
              <a:srgbClr val="0099CC"/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CANADA</c:v>
                </c:pt>
                <c:pt idx="1">
                  <c:v>USA</c:v>
                </c:pt>
                <c:pt idx="2">
                  <c:v>EUROPE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"$"#,##0.00</c:formatCode>
                <c:ptCount val="4"/>
                <c:pt idx="0">
                  <c:v>9.5150887119745029</c:v>
                </c:pt>
                <c:pt idx="1">
                  <c:v>7.446686909630543</c:v>
                </c:pt>
                <c:pt idx="2">
                  <c:v>3.3665842826703001</c:v>
                </c:pt>
                <c:pt idx="3">
                  <c:v>9.9080368693736015E-2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AA-2D40-A03F-BE8F0C545F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Sheet1!$A$2:$A$5</c:f>
              <c:strCache>
                <c:ptCount val="4"/>
                <c:pt idx="0">
                  <c:v>CANADA</c:v>
                </c:pt>
                <c:pt idx="1">
                  <c:v>USA</c:v>
                </c:pt>
                <c:pt idx="2">
                  <c:v>EUROPE</c:v>
                </c:pt>
                <c:pt idx="3">
                  <c:v>OTHER</c:v>
                </c:pt>
              </c:strCache>
            </c:strRef>
          </c:cat>
          <c:val>
            <c:numRef>
              <c:f>Sheet1!$C$2:$C$5</c:f>
              <c:numCache>
                <c:formatCode>"$"#,##0.00</c:formatCode>
                <c:ptCount val="4"/>
                <c:pt idx="0">
                  <c:v>21.192048329999999</c:v>
                </c:pt>
                <c:pt idx="1">
                  <c:v>18.797872825799995</c:v>
                </c:pt>
                <c:pt idx="2">
                  <c:v>7.4718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AA-2D40-A03F-BE8F0C545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Region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min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Budget</a:t>
                </a:r>
                <a:r>
                  <a:rPr lang="en-US" baseline="0"/>
                  <a:t> M$</a:t>
                </a:r>
                <a:endParaRPr lang="en-US"/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"/>
        <c:minorUnit val="1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Only Sum of Sales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Sheet1!$B$2:$B$5</c:f>
              <c:numCache>
                <c:formatCode>"$"#,##0.00</c:formatCode>
                <c:ptCount val="4"/>
                <c:pt idx="0">
                  <c:v>6.8814988400703418</c:v>
                </c:pt>
                <c:pt idx="1">
                  <c:v>6.5848799864715355</c:v>
                </c:pt>
                <c:pt idx="2">
                  <c:v>0.30568031013537295</c:v>
                </c:pt>
                <c:pt idx="3">
                  <c:v>2.561201363248071E-2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Sheet1!$D$1</c:f>
              <c:strCache>
                <c:ptCount val="1"/>
                <c:pt idx="0">
                  <c:v>Shipped Only Sum of Sales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Sheet1!$D$2:$D$5</c:f>
              <c:numCache>
                <c:formatCode>"$"#,##0.00</c:formatCode>
                <c:ptCount val="4"/>
                <c:pt idx="0">
                  <c:v>0.68987457201040636</c:v>
                </c:pt>
                <c:pt idx="1">
                  <c:v>0.99257197894334526</c:v>
                </c:pt>
                <c:pt idx="2">
                  <c:v>0.67398839156062762</c:v>
                </c:pt>
                <c:pt idx="3">
                  <c:v>0.19822866204797418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ser>
          <c:idx val="4"/>
          <c:order val="2"/>
          <c:tx>
            <c:strRef>
              <c:f>Sheet1!$F$1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Sheet1!$F$2:$F$5</c:f>
              <c:numCache>
                <c:formatCode>"$"#,##0.00</c:formatCode>
                <c:ptCount val="4"/>
                <c:pt idx="0">
                  <c:v>7.5713734120806944</c:v>
                </c:pt>
                <c:pt idx="1">
                  <c:v>7.5774519654145598</c:v>
                </c:pt>
                <c:pt idx="2">
                  <c:v>0.97966870169599995</c:v>
                </c:pt>
                <c:pt idx="3">
                  <c:v>0.22384067568045457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95-BA47-8A84-AF26CB44BA7F}"/>
            </c:ext>
          </c:extLst>
        </c:ser>
        <c:ser>
          <c:idx val="6"/>
          <c:order val="3"/>
          <c:tx>
            <c:strRef>
              <c:f>Sheet1!$H$1</c:f>
              <c:strCache>
                <c:ptCount val="1"/>
                <c:pt idx="0">
                  <c:v> 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Sheet1!$H$2:$H$5</c:f>
              <c:numCache>
                <c:formatCode>"$"#,##0.00</c:formatCode>
                <c:ptCount val="4"/>
                <c:pt idx="0">
                  <c:v>14.287183609999996</c:v>
                </c:pt>
                <c:pt idx="1">
                  <c:v>15.287477709000001</c:v>
                </c:pt>
                <c:pt idx="2">
                  <c:v>6</c:v>
                </c:pt>
                <c:pt idx="3">
                  <c:v>2.2749999999999999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At val="0"/>
        <c:auto val="1"/>
        <c:lblAlgn val="ctr"/>
        <c:lblOffset val="100"/>
        <c:noMultiLvlLbl val="0"/>
      </c:catAx>
      <c:valAx>
        <c:axId val="1407291535"/>
        <c:scaling>
          <c:orientation val="minMax"/>
          <c:max val="16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</a:t>
                </a:r>
                <a:r>
                  <a:rPr lang="en-US" baseline="0">
                    <a:sym typeface="Wingdings" pitchFamily="2" charset="2"/>
                  </a:rPr>
                  <a:t>(MILLIONS $)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3"/>
        <c:minorUnit val="0.5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5609125250519651"/>
          <c:y val="6.1949991154587936E-2"/>
          <c:w val="0.29308478485815703"/>
          <c:h val="0.31841188986147329"/>
        </c:manualLayout>
      </c:layout>
      <c:overlay val="1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MONKEY</c:v>
                </c:pt>
                <c:pt idx="1">
                  <c:v>PERANIS</c:v>
                </c:pt>
                <c:pt idx="2">
                  <c:v>PRO HOCKEY LIFE</c:v>
                </c:pt>
                <c:pt idx="3">
                  <c:v>PURE HOCKEY</c:v>
                </c:pt>
                <c:pt idx="4">
                  <c:v>SPORT CHEK</c:v>
                </c:pt>
              </c:strCache>
            </c:strRef>
          </c:cat>
          <c:val>
            <c:numRef>
              <c:f>Sheet1!$B$2:$B$6</c:f>
              <c:numCache>
                <c:formatCode>"$"#,##0.00</c:formatCode>
                <c:ptCount val="5"/>
                <c:pt idx="0">
                  <c:v>2.0477933601932539</c:v>
                </c:pt>
                <c:pt idx="1">
                  <c:v>0.19397100999999983</c:v>
                </c:pt>
                <c:pt idx="2">
                  <c:v>2.7369747407645741</c:v>
                </c:pt>
                <c:pt idx="3">
                  <c:v>2.0256359700000104</c:v>
                </c:pt>
                <c:pt idx="4">
                  <c:v>0.56699833112285691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MONKEY</c:v>
                </c:pt>
                <c:pt idx="1">
                  <c:v>PERANIS</c:v>
                </c:pt>
                <c:pt idx="2">
                  <c:v>PRO HOCKEY LIFE</c:v>
                </c:pt>
                <c:pt idx="3">
                  <c:v>PURE HOCKEY</c:v>
                </c:pt>
                <c:pt idx="4">
                  <c:v>SPORT CHEK</c:v>
                </c:pt>
              </c:strCache>
            </c:strRef>
          </c:cat>
          <c:val>
            <c:numRef>
              <c:f>Sheet1!$C$2:$C$6</c:f>
              <c:numCache>
                <c:formatCode>"$"#,##0.00_);[Red]\("$"#,##0.00\)</c:formatCode>
                <c:ptCount val="5"/>
                <c:pt idx="0">
                  <c:v>3.5</c:v>
                </c:pt>
                <c:pt idx="1">
                  <c:v>0.54900000000000004</c:v>
                </c:pt>
                <c:pt idx="2">
                  <c:v>3.3</c:v>
                </c:pt>
                <c:pt idx="3">
                  <c:v>5</c:v>
                </c:pt>
                <c:pt idx="4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 val="autoZero"/>
        <c:auto val="1"/>
        <c:lblAlgn val="ctr"/>
        <c:lblOffset val="100"/>
        <c:noMultiLvlLbl val="0"/>
      </c:catAx>
      <c:valAx>
        <c:axId val="1407291535"/>
        <c:scaling>
          <c:orientation val="minMax"/>
          <c:max val="6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(MILLIONS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FGL FRANCHISES</c:v>
                </c:pt>
                <c:pt idx="1">
                  <c:v>INDEPENDENTS</c:v>
                </c:pt>
                <c:pt idx="2">
                  <c:v>SOURCE FOR SPORTS</c:v>
                </c:pt>
                <c:pt idx="3">
                  <c:v>SPORTS EXCELLENCE</c:v>
                </c:pt>
              </c:strCache>
            </c:strRef>
          </c:cat>
          <c:val>
            <c:numRef>
              <c:f>Sheet1!$B$2:$B$5</c:f>
              <c:numCache>
                <c:formatCode>"$"#,##0.00</c:formatCode>
                <c:ptCount val="4"/>
                <c:pt idx="0">
                  <c:v>1.0423245595018047</c:v>
                </c:pt>
                <c:pt idx="1">
                  <c:v>2.0217072323670457</c:v>
                </c:pt>
                <c:pt idx="2">
                  <c:v>3.0524118308613257</c:v>
                </c:pt>
                <c:pt idx="3">
                  <c:v>1.461008342684383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6-514A-8CBF-C38467FCCE36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FGL FRANCHISES</c:v>
                </c:pt>
                <c:pt idx="1">
                  <c:v>INDEPENDENTS</c:v>
                </c:pt>
                <c:pt idx="2">
                  <c:v>SOURCE FOR SPORTS</c:v>
                </c:pt>
                <c:pt idx="3">
                  <c:v>SPORTS EXCELLENCE</c:v>
                </c:pt>
              </c:strCache>
            </c:strRef>
          </c:cat>
          <c:val>
            <c:numRef>
              <c:f>Sheet1!$C$2:$C$5</c:f>
              <c:numCache>
                <c:formatCode>"$"#,##0.00</c:formatCode>
                <c:ptCount val="4"/>
                <c:pt idx="0">
                  <c:v>2.79</c:v>
                </c:pt>
                <c:pt idx="1">
                  <c:v>3.33</c:v>
                </c:pt>
                <c:pt idx="2">
                  <c:v>7.05</c:v>
                </c:pt>
                <c:pt idx="3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F6-514A-8CBF-C38467FCC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 val="autoZero"/>
        <c:auto val="1"/>
        <c:lblAlgn val="ctr"/>
        <c:lblOffset val="100"/>
        <c:noMultiLvlLbl val="0"/>
      </c:catAx>
      <c:valAx>
        <c:axId val="1407291535"/>
        <c:scaling>
          <c:orientation val="minMax"/>
          <c:max val="7.5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(MILLIONS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NHL/AHL/ECHL</c:v>
                </c:pt>
                <c:pt idx="1">
                  <c:v>CHL/USHL</c:v>
                </c:pt>
                <c:pt idx="2">
                  <c:v>NCAA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_("$"* #,##0.00_);_("$"* \(#,##0.00\);_("$"* "-"??_);_(@_)</c:formatCode>
                <c:ptCount val="4"/>
                <c:pt idx="0">
                  <c:v>0.71040617317845212</c:v>
                </c:pt>
                <c:pt idx="1">
                  <c:v>8.7617670260381947E-2</c:v>
                </c:pt>
                <c:pt idx="2">
                  <c:v>7.5167999999999999E-2</c:v>
                </c:pt>
                <c:pt idx="3">
                  <c:v>0.10647685825716596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NHL/AHL/ECHL</c:v>
                </c:pt>
                <c:pt idx="1">
                  <c:v>CHL/USHL</c:v>
                </c:pt>
                <c:pt idx="2">
                  <c:v>NCAA</c:v>
                </c:pt>
                <c:pt idx="3">
                  <c:v>OTHER</c:v>
                </c:pt>
              </c:strCache>
            </c:strRef>
          </c:cat>
          <c:val>
            <c:numRef>
              <c:f>Sheet1!$C$2:$C$5</c:f>
              <c:numCache>
                <c:formatCode>"$"#,##0.00_);[Red]\("$"#,##0.00\)</c:formatCode>
                <c:ptCount val="4"/>
                <c:pt idx="0">
                  <c:v>4.5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 val="autoZero"/>
        <c:auto val="1"/>
        <c:lblAlgn val="ctr"/>
        <c:lblOffset val="100"/>
        <c:noMultiLvlLbl val="0"/>
      </c:catAx>
      <c:valAx>
        <c:axId val="1407291535"/>
        <c:scaling>
          <c:orientation val="minMax"/>
          <c:max val="5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(MILLIONS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Orders GM%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0.49423547726057632</c:v>
                </c:pt>
                <c:pt idx="1">
                  <c:v>0.53810775446148273</c:v>
                </c:pt>
                <c:pt idx="2">
                  <c:v>0.67</c:v>
                </c:pt>
                <c:pt idx="3">
                  <c:v>0.66063695207682394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Shipped Only GM%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Sheet1!$C$2:$C$5</c:f>
              <c:numCache>
                <c:formatCode>0%</c:formatCode>
                <c:ptCount val="4"/>
                <c:pt idx="0">
                  <c:v>0.24</c:v>
                </c:pt>
                <c:pt idx="1">
                  <c:v>0.32863264588472213</c:v>
                </c:pt>
                <c:pt idx="2">
                  <c:v>0.65</c:v>
                </c:pt>
                <c:pt idx="3">
                  <c:v>0.59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ser>
          <c:idx val="4"/>
          <c:order val="2"/>
          <c:tx>
            <c:strRef>
              <c:f>Sheet1!$D$1</c:f>
              <c:strCache>
                <c:ptCount val="1"/>
                <c:pt idx="0">
                  <c:v>Total Sum of Sales GM%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KEY ACCOUNTS</c:v>
                </c:pt>
                <c:pt idx="1">
                  <c:v>SPECIALITY</c:v>
                </c:pt>
                <c:pt idx="2">
                  <c:v>ELITE</c:v>
                </c:pt>
                <c:pt idx="3">
                  <c:v>DTC</c:v>
                </c:pt>
              </c:strCache>
            </c:strRef>
          </c:cat>
          <c:val>
            <c:numRef>
              <c:f>Sheet1!$D$2:$D$5</c:f>
              <c:numCache>
                <c:formatCode>0%</c:formatCode>
                <c:ptCount val="4"/>
                <c:pt idx="0">
                  <c:v>0.47</c:v>
                </c:pt>
                <c:pt idx="1">
                  <c:v>0.51420330529184044</c:v>
                </c:pt>
                <c:pt idx="2">
                  <c:v>0.66252389149562774</c:v>
                </c:pt>
                <c:pt idx="3">
                  <c:v>0.59901087804150766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At val="0"/>
        <c:auto val="1"/>
        <c:lblAlgn val="ctr"/>
        <c:lblOffset val="100"/>
        <c:noMultiLvlLbl val="0"/>
      </c:catAx>
      <c:valAx>
        <c:axId val="1407291535"/>
        <c:scaling>
          <c:orientation val="minMax"/>
          <c:max val="1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GROSS</a:t>
                </a:r>
                <a:r>
                  <a:rPr lang="en-US" baseline="0"/>
                  <a:t> MARGIN %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1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GROSS MARGIN % PERFORMANCE – BY REP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080-B445-B54C-932D478FFC9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80-B445-B54C-932D478FFC9A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080-B445-B54C-932D478FFC9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080-B445-B54C-932D478FFC9A}"/>
              </c:ext>
            </c:extLst>
          </c:dPt>
          <c:dPt>
            <c:idx val="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080-B445-B54C-932D478FFC9A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7080-B445-B54C-932D478FFC9A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80-B445-B54C-932D478FFC9A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7080-B445-B54C-932D478FFC9A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80-B445-B54C-932D478FFC9A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7080-B445-B54C-932D478FFC9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DFFFBEA7-76CC-4ABB-90BC-ECFCD848ABDA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7080-B445-B54C-932D478FFC9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DBC6AB7-F16D-4DFE-9FFE-B80D31219463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7080-B445-B54C-932D478FFC9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40B6B74-D923-4932-8CC7-33013E00391F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7080-B445-B54C-932D478FFC9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3B682837-3EDB-4977-A063-3C09D64CE67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4-7080-B445-B54C-932D478FFC9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BED3EBC4-5892-4D80-97BF-50AFA44967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7080-B445-B54C-932D478FFC9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fld id="{6A20A51E-19BF-4829-B980-4791D20C3A6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7-7080-B445-B54C-932D478FFC9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89954EFB-88FD-4C1A-96F3-939C72FF8938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8-7080-B445-B54C-932D478FFC9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6E676BB3-D19E-43E1-ADCC-163BC10139A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9-7080-B445-B54C-932D478FFC9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fld id="{285A9953-32FF-45B8-871C-121B5DC578A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A-7080-B445-B54C-932D478FFC9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E32030D5-3E24-47B1-B1A2-7600D1BBAF9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B-7080-B445-B54C-932D478FFC9A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fld id="{1C599E36-0480-461A-A668-C9F2100394E4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0-4D0A-6740-B87D-0B203B211BCC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fld id="{A3F1CB85-9EBE-4406-B54A-7C08BDF9A331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6-7080-B445-B54C-932D478FFC9A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fld id="{BBE9CAC0-2579-4CB0-93D2-AEB4D177985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4D0A-6740-B87D-0B203B211BCC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fld id="{79BFA9E8-2C09-4521-9EAF-DC34B5D2FA45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4D0A-6740-B87D-0B203B211BCC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fld id="{55E04799-99DD-4CDC-B048-A9E75344E58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4D0A-6740-B87D-0B203B211BC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Sheet1!$A$2:$A$16</c:f>
              <c:strCache>
                <c:ptCount val="15"/>
                <c:pt idx="0">
                  <c:v>Marc-Andre Bellehumeur</c:v>
                </c:pt>
                <c:pt idx="1">
                  <c:v>JEFF LYNCH</c:v>
                </c:pt>
                <c:pt idx="2">
                  <c:v>Scott Sissions</c:v>
                </c:pt>
                <c:pt idx="3">
                  <c:v>IN HOUSE </c:v>
                </c:pt>
                <c:pt idx="4">
                  <c:v>Brad Savelson</c:v>
                </c:pt>
                <c:pt idx="5">
                  <c:v>Mario Richard</c:v>
                </c:pt>
                <c:pt idx="6">
                  <c:v>Wes Huether</c:v>
                </c:pt>
                <c:pt idx="7">
                  <c:v>Vincent Pizzo</c:v>
                </c:pt>
                <c:pt idx="8">
                  <c:v>Brent Hobday</c:v>
                </c:pt>
                <c:pt idx="9">
                  <c:v>Greg Pettis</c:v>
                </c:pt>
                <c:pt idx="10">
                  <c:v>Matt Shaw</c:v>
                </c:pt>
                <c:pt idx="11">
                  <c:v>Jesse Nifong </c:v>
                </c:pt>
                <c:pt idx="12">
                  <c:v>Scott Brown</c:v>
                </c:pt>
                <c:pt idx="13">
                  <c:v>Steve Boersma</c:v>
                </c:pt>
                <c:pt idx="14">
                  <c:v>Zac Lampson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0.36267937550424412</c:v>
                </c:pt>
                <c:pt idx="1">
                  <c:v>0.44056078710429669</c:v>
                </c:pt>
                <c:pt idx="2">
                  <c:v>0.46846208003270073</c:v>
                </c:pt>
                <c:pt idx="3">
                  <c:v>0.47512389633668534</c:v>
                </c:pt>
                <c:pt idx="4">
                  <c:v>0.47855194059247241</c:v>
                </c:pt>
                <c:pt idx="5">
                  <c:v>0.48749673080930089</c:v>
                </c:pt>
                <c:pt idx="6">
                  <c:v>0.50853364563648684</c:v>
                </c:pt>
                <c:pt idx="7">
                  <c:v>0.51221079467897423</c:v>
                </c:pt>
                <c:pt idx="8">
                  <c:v>0.52289442264526675</c:v>
                </c:pt>
                <c:pt idx="9">
                  <c:v>0.52698217054183949</c:v>
                </c:pt>
                <c:pt idx="10">
                  <c:v>0.60352690425138111</c:v>
                </c:pt>
                <c:pt idx="11">
                  <c:v>0.6122766632949086</c:v>
                </c:pt>
                <c:pt idx="12">
                  <c:v>0.62935803728504003</c:v>
                </c:pt>
                <c:pt idx="13">
                  <c:v>0.63858263961834305</c:v>
                </c:pt>
                <c:pt idx="14">
                  <c:v>0.64283091095021594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Sheet1!$B$2:$B$16</c15:f>
                <c15:dlblRangeCache>
                  <c:ptCount val="15"/>
                  <c:pt idx="0">
                    <c:v>36%</c:v>
                  </c:pt>
                  <c:pt idx="1">
                    <c:v>44%</c:v>
                  </c:pt>
                  <c:pt idx="2">
                    <c:v>47%</c:v>
                  </c:pt>
                  <c:pt idx="3">
                    <c:v>48%</c:v>
                  </c:pt>
                  <c:pt idx="4">
                    <c:v>48%</c:v>
                  </c:pt>
                  <c:pt idx="5">
                    <c:v>49%</c:v>
                  </c:pt>
                  <c:pt idx="6">
                    <c:v>51%</c:v>
                  </c:pt>
                  <c:pt idx="7">
                    <c:v>51%</c:v>
                  </c:pt>
                  <c:pt idx="8">
                    <c:v>52%</c:v>
                  </c:pt>
                  <c:pt idx="9">
                    <c:v>53%</c:v>
                  </c:pt>
                  <c:pt idx="10">
                    <c:v>60%</c:v>
                  </c:pt>
                  <c:pt idx="11">
                    <c:v>61%</c:v>
                  </c:pt>
                  <c:pt idx="12">
                    <c:v>63%</c:v>
                  </c:pt>
                  <c:pt idx="13">
                    <c:v>64%</c:v>
                  </c:pt>
                  <c:pt idx="14">
                    <c:v>64%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7080-B445-B54C-932D478FFC9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82"/>
        <c:axId val="2001589775"/>
        <c:axId val="1198594864"/>
      </c:barChart>
      <c:catAx>
        <c:axId val="200158977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8594864"/>
        <c:crosses val="autoZero"/>
        <c:auto val="1"/>
        <c:lblAlgn val="ctr"/>
        <c:lblOffset val="100"/>
        <c:noMultiLvlLbl val="0"/>
      </c:catAx>
      <c:valAx>
        <c:axId val="1198594864"/>
        <c:scaling>
          <c:orientation val="minMax"/>
          <c:max val="1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01589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flat" cmpd="sng" algn="ctr">
      <a:solidFill>
        <a:schemeClr val="tx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% </a:t>
            </a:r>
            <a:r>
              <a:rPr lang="en-US"/>
              <a:t>TO BUDGET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TO GOAL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EE0-4A1F-9F68-CB3BCFEE249C}"/>
              </c:ext>
            </c:extLst>
          </c:dPt>
          <c:dPt>
            <c:idx val="2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DEE0-4A1F-9F68-CB3BCFEE249C}"/>
              </c:ext>
            </c:extLst>
          </c:dPt>
          <c:dPt>
            <c:idx val="5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EE0-4A1F-9F68-CB3BCFEE249C}"/>
              </c:ext>
            </c:extLst>
          </c:dPt>
          <c:dPt>
            <c:idx val="6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EE0-4A1F-9F68-CB3BCFEE249C}"/>
              </c:ext>
            </c:extLst>
          </c:dPt>
          <c:dPt>
            <c:idx val="7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EE0-4A1F-9F68-CB3BCFEE249C}"/>
              </c:ext>
            </c:extLst>
          </c:dPt>
          <c:dPt>
            <c:idx val="8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EE0-4A1F-9F68-CB3BCFEE249C}"/>
              </c:ext>
            </c:extLst>
          </c:dPt>
          <c:dPt>
            <c:idx val="9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EE0-4A1F-9F68-CB3BCFEE249C}"/>
              </c:ext>
            </c:extLst>
          </c:dPt>
          <c:dPt>
            <c:idx val="1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EE0-4A1F-9F68-CB3BCFEE249C}"/>
              </c:ext>
            </c:extLst>
          </c:dPt>
          <c:dPt>
            <c:idx val="14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EE0-4A1F-9F68-CB3BCFEE249C}"/>
              </c:ext>
            </c:extLst>
          </c:dPt>
          <c:cat>
            <c:strRef>
              <c:f>Sheet1!$A$2:$A$16</c:f>
              <c:strCache>
                <c:ptCount val="15"/>
                <c:pt idx="0">
                  <c:v>Greg Pettis</c:v>
                </c:pt>
                <c:pt idx="1">
                  <c:v>Matt Shaw</c:v>
                </c:pt>
                <c:pt idx="2">
                  <c:v>Jesse Nifong</c:v>
                </c:pt>
                <c:pt idx="3">
                  <c:v>IN HOUSE - US</c:v>
                </c:pt>
                <c:pt idx="4">
                  <c:v>Wes Huether</c:v>
                </c:pt>
                <c:pt idx="5">
                  <c:v>Mario Richard</c:v>
                </c:pt>
                <c:pt idx="6">
                  <c:v>Brad Savelson</c:v>
                </c:pt>
                <c:pt idx="7">
                  <c:v>Jeff Lynch</c:v>
                </c:pt>
                <c:pt idx="8">
                  <c:v>Brent Hobday</c:v>
                </c:pt>
                <c:pt idx="9">
                  <c:v>Scott Sissions</c:v>
                </c:pt>
                <c:pt idx="10">
                  <c:v>Zac Lampson</c:v>
                </c:pt>
                <c:pt idx="11">
                  <c:v>Steve Boersma</c:v>
                </c:pt>
                <c:pt idx="12">
                  <c:v>Marc-Andre Bellehumeur</c:v>
                </c:pt>
                <c:pt idx="13">
                  <c:v>IN HOUSE - CAN</c:v>
                </c:pt>
                <c:pt idx="14">
                  <c:v>Vincent Pizzo</c:v>
                </c:pt>
              </c:strCache>
            </c:strRef>
          </c:cat>
          <c:val>
            <c:numRef>
              <c:f>Sheet1!$B$2:$B$16</c:f>
              <c:numCache>
                <c:formatCode>0%</c:formatCode>
                <c:ptCount val="15"/>
                <c:pt idx="0">
                  <c:v>0.34328330174762423</c:v>
                </c:pt>
                <c:pt idx="1">
                  <c:v>0.40850727523093672</c:v>
                </c:pt>
                <c:pt idx="2">
                  <c:v>0.41098327809814544</c:v>
                </c:pt>
                <c:pt idx="3">
                  <c:v>0.42762330728568138</c:v>
                </c:pt>
                <c:pt idx="4">
                  <c:v>0.42967651694689701</c:v>
                </c:pt>
                <c:pt idx="5">
                  <c:v>0.46119715565425096</c:v>
                </c:pt>
                <c:pt idx="6">
                  <c:v>0.46768677025711303</c:v>
                </c:pt>
                <c:pt idx="7">
                  <c:v>0.49780177215009297</c:v>
                </c:pt>
                <c:pt idx="8">
                  <c:v>0.49926852739145744</c:v>
                </c:pt>
                <c:pt idx="9">
                  <c:v>0.50842518602610021</c:v>
                </c:pt>
                <c:pt idx="10">
                  <c:v>0.51577575318030178</c:v>
                </c:pt>
                <c:pt idx="11">
                  <c:v>0.52036818319678579</c:v>
                </c:pt>
                <c:pt idx="12">
                  <c:v>0.582848698606375</c:v>
                </c:pt>
                <c:pt idx="13">
                  <c:v>0.62661389203995876</c:v>
                </c:pt>
                <c:pt idx="14">
                  <c:v>0.66939602945213106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0-4A1F-9F68-CB3BCFEE2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96586000"/>
        <c:axId val="1096594160"/>
      </c:barChart>
      <c:catAx>
        <c:axId val="1096586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594160"/>
        <c:crosses val="autoZero"/>
        <c:auto val="1"/>
        <c:lblAlgn val="ctr"/>
        <c:lblOffset val="100"/>
        <c:noMultiLvlLbl val="0"/>
      </c:catAx>
      <c:valAx>
        <c:axId val="10965941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6586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12700" cap="rnd" cmpd="sng" algn="ctr">
      <a:solidFill>
        <a:schemeClr val="dk1"/>
      </a:solidFill>
      <a:prstDash val="solid"/>
      <a:miter lim="800000"/>
    </a:ln>
    <a:effectLst/>
  </c:spPr>
  <c:txPr>
    <a:bodyPr/>
    <a:lstStyle/>
    <a:p>
      <a:pPr>
        <a:defRPr>
          <a:solidFill>
            <a:schemeClr val="dk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0"/>
          <c:tx>
            <c:strRef>
              <c:f>Sheet1!$F$1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KA - Big 4</c:v>
                </c:pt>
                <c:pt idx="1">
                  <c:v>KA - TOP 10</c:v>
                </c:pt>
                <c:pt idx="2">
                  <c:v>OTHERS</c:v>
                </c:pt>
              </c:strCache>
            </c:strRef>
          </c:cat>
          <c:val>
            <c:numRef>
              <c:f>Sheet1!$F$2:$F$4</c:f>
              <c:numCache>
                <c:formatCode>"$"#,##0.00</c:formatCode>
                <c:ptCount val="3"/>
                <c:pt idx="0">
                  <c:v>1.36</c:v>
                </c:pt>
                <c:pt idx="1">
                  <c:v>0.94</c:v>
                </c:pt>
                <c:pt idx="2">
                  <c:v>0.106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6F95-BA47-8A84-AF26CB44BA7F}"/>
            </c:ext>
          </c:extLst>
        </c:ser>
        <c:ser>
          <c:idx val="6"/>
          <c:order val="1"/>
          <c:tx>
            <c:strRef>
              <c:f>Sheet1!$H$1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KA - Big 4</c:v>
                </c:pt>
                <c:pt idx="1">
                  <c:v>KA - TOP 10</c:v>
                </c:pt>
                <c:pt idx="2">
                  <c:v>OTHERS</c:v>
                </c:pt>
              </c:strCache>
            </c:strRef>
          </c:cat>
          <c:val>
            <c:numRef>
              <c:f>Sheet1!$H$2:$H$4</c:f>
              <c:numCache>
                <c:formatCode>"$"#,##0.00</c:formatCode>
                <c:ptCount val="3"/>
                <c:pt idx="0">
                  <c:v>2.02</c:v>
                </c:pt>
                <c:pt idx="1">
                  <c:v>2.4300000000000002</c:v>
                </c:pt>
                <c:pt idx="2">
                  <c:v>3.02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At val="0"/>
        <c:auto val="1"/>
        <c:lblAlgn val="ctr"/>
        <c:lblOffset val="100"/>
        <c:noMultiLvlLbl val="0"/>
      </c:catAx>
      <c:valAx>
        <c:axId val="1407291535"/>
        <c:scaling>
          <c:orientation val="minMax"/>
          <c:max val="3.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</a:t>
                </a:r>
                <a:r>
                  <a:rPr lang="en-US" baseline="0">
                    <a:sym typeface="Wingdings" pitchFamily="2" charset="2"/>
                  </a:rPr>
                  <a:t>(MILLIONS $)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5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Hockey Base</c:v>
                </c:pt>
                <c:pt idx="1">
                  <c:v>Interhockey</c:v>
                </c:pt>
                <c:pt idx="2">
                  <c:v>Jagr Team</c:v>
                </c:pt>
                <c:pt idx="3">
                  <c:v>Spobik</c:v>
                </c:pt>
              </c:strCache>
            </c:strRef>
          </c:cat>
          <c:val>
            <c:numRef>
              <c:f>Sheet1!$B$2:$B$5</c:f>
              <c:numCache>
                <c:formatCode>"$"#,##0.00</c:formatCode>
                <c:ptCount val="4"/>
                <c:pt idx="0">
                  <c:v>0.45869632991869019</c:v>
                </c:pt>
                <c:pt idx="1">
                  <c:v>0.36427362880154113</c:v>
                </c:pt>
                <c:pt idx="2">
                  <c:v>0.29060464863581392</c:v>
                </c:pt>
                <c:pt idx="3">
                  <c:v>0.24768419959750915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Hockey Base</c:v>
                </c:pt>
                <c:pt idx="1">
                  <c:v>Interhockey</c:v>
                </c:pt>
                <c:pt idx="2">
                  <c:v>Jagr Team</c:v>
                </c:pt>
                <c:pt idx="3">
                  <c:v>Spobik</c:v>
                </c:pt>
              </c:strCache>
            </c:strRef>
          </c:cat>
          <c:val>
            <c:numRef>
              <c:f>Sheet1!$C$2:$C$5</c:f>
              <c:numCache>
                <c:formatCode>"$"#,##0.00</c:formatCode>
                <c:ptCount val="4"/>
                <c:pt idx="0">
                  <c:v>0.8</c:v>
                </c:pt>
                <c:pt idx="1">
                  <c:v>0.6</c:v>
                </c:pt>
                <c:pt idx="2">
                  <c:v>0.61499999999999999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 val="autoZero"/>
        <c:auto val="1"/>
        <c:lblAlgn val="ctr"/>
        <c:lblOffset val="100"/>
        <c:noMultiLvlLbl val="0"/>
      </c:catAx>
      <c:valAx>
        <c:axId val="1407291535"/>
        <c:scaling>
          <c:orientation val="minMax"/>
          <c:max val="1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(MILLIONS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Sum of Sales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ELBE HOCKEY </c:v>
                </c:pt>
                <c:pt idx="1">
                  <c:v>L-SPORTING </c:v>
                </c:pt>
                <c:pt idx="2">
                  <c:v>FABRIQEN GROUP </c:v>
                </c:pt>
                <c:pt idx="3">
                  <c:v>SPORTER AS</c:v>
                </c:pt>
                <c:pt idx="4">
                  <c:v>SIA HOKEJAM</c:v>
                </c:pt>
                <c:pt idx="5">
                  <c:v>HPS SPORT-SHOP</c:v>
                </c:pt>
                <c:pt idx="6">
                  <c:v>TOP ON ICE GMBH &amp; CO</c:v>
                </c:pt>
                <c:pt idx="7">
                  <c:v>ECO BEAUTY GMBH SPORT THOMASSER</c:v>
                </c:pt>
                <c:pt idx="8">
                  <c:v>JEGVILAG HOCKEY KFT</c:v>
                </c:pt>
                <c:pt idx="9">
                  <c:v>LLP DLYAHOKKEYA</c:v>
                </c:pt>
              </c:strCache>
            </c:strRef>
          </c:cat>
          <c:val>
            <c:numRef>
              <c:f>Sheet1!$B$2:$B$11</c:f>
              <c:numCache>
                <c:formatCode>"$"#,##0.00</c:formatCode>
                <c:ptCount val="10"/>
                <c:pt idx="0">
                  <c:v>0.22762836019390731</c:v>
                </c:pt>
                <c:pt idx="1">
                  <c:v>0.12665050860058447</c:v>
                </c:pt>
                <c:pt idx="2">
                  <c:v>0.12070613308049968</c:v>
                </c:pt>
                <c:pt idx="3">
                  <c:v>0.11232713387563525</c:v>
                </c:pt>
                <c:pt idx="4">
                  <c:v>0.10108219458035375</c:v>
                </c:pt>
                <c:pt idx="5">
                  <c:v>8.0252730694441873E-2</c:v>
                </c:pt>
                <c:pt idx="6">
                  <c:v>6.8949974763292995E-2</c:v>
                </c:pt>
                <c:pt idx="7">
                  <c:v>5.6571364990725112E-2</c:v>
                </c:pt>
                <c:pt idx="8">
                  <c:v>4.1433383083647857E-2</c:v>
                </c:pt>
                <c:pt idx="9">
                  <c:v>6.2690999999999997E-3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6-514A-8CBF-C38467FCCE36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2026 Forecast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ELBE HOCKEY </c:v>
                </c:pt>
                <c:pt idx="1">
                  <c:v>L-SPORTING </c:v>
                </c:pt>
                <c:pt idx="2">
                  <c:v>FABRIQEN GROUP </c:v>
                </c:pt>
                <c:pt idx="3">
                  <c:v>SPORTER AS</c:v>
                </c:pt>
                <c:pt idx="4">
                  <c:v>SIA HOKEJAM</c:v>
                </c:pt>
                <c:pt idx="5">
                  <c:v>HPS SPORT-SHOP</c:v>
                </c:pt>
                <c:pt idx="6">
                  <c:v>TOP ON ICE GMBH &amp; CO</c:v>
                </c:pt>
                <c:pt idx="7">
                  <c:v>ECO BEAUTY GMBH SPORT THOMASSER</c:v>
                </c:pt>
                <c:pt idx="8">
                  <c:v>JEGVILAG HOCKEY KFT</c:v>
                </c:pt>
                <c:pt idx="9">
                  <c:v>LLP DLYAHOKKEYA</c:v>
                </c:pt>
              </c:strCache>
            </c:strRef>
          </c:cat>
          <c:val>
            <c:numRef>
              <c:f>Sheet1!$C$2:$C$11</c:f>
              <c:numCache>
                <c:formatCode>"$"#,##0.00</c:formatCode>
                <c:ptCount val="10"/>
                <c:pt idx="0">
                  <c:v>0.375</c:v>
                </c:pt>
                <c:pt idx="1">
                  <c:v>0.27500000000000002</c:v>
                </c:pt>
                <c:pt idx="2">
                  <c:v>0.2</c:v>
                </c:pt>
                <c:pt idx="3">
                  <c:v>0.22500000000000001</c:v>
                </c:pt>
                <c:pt idx="4" formatCode="&quot;$&quot;#,##0.00_);[Red]\(&quot;$&quot;#,##0.00\)">
                  <c:v>0.2</c:v>
                </c:pt>
                <c:pt idx="5" formatCode="&quot;$&quot;#,##0.00_);[Red]\(&quot;$&quot;#,##0.00\)">
                  <c:v>0.22500000000000001</c:v>
                </c:pt>
                <c:pt idx="6" formatCode="&quot;$&quot;#,##0.00_);[Red]\(&quot;$&quot;#,##0.00\)">
                  <c:v>0.17</c:v>
                </c:pt>
                <c:pt idx="7" formatCode="&quot;$&quot;#,##0.00_);[Red]\(&quot;$&quot;#,##0.00\)">
                  <c:v>0.15</c:v>
                </c:pt>
                <c:pt idx="8" formatCode="&quot;$&quot;#,##0.00_);[Red]\(&quot;$&quot;#,##0.00\)">
                  <c:v>0.11</c:v>
                </c:pt>
                <c:pt idx="9" formatCode="&quot;$&quot;#,##0.00_);[Red]\(&quot;$&quot;#,##0.00\)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FF6-514A-8CBF-C38467FCC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 val="autoZero"/>
        <c:auto val="1"/>
        <c:lblAlgn val="ctr"/>
        <c:lblOffset val="100"/>
        <c:noMultiLvlLbl val="0"/>
      </c:catAx>
      <c:valAx>
        <c:axId val="1407291535"/>
        <c:scaling>
          <c:orientation val="minMax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TOTAL (MILLIONS $)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Only Sales GM%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KEY ACCOUNTS</c:v>
                </c:pt>
                <c:pt idx="1">
                  <c:v>SPECIALTY CHANNEL ACCOUNTS TOP 10</c:v>
                </c:pt>
                <c:pt idx="2">
                  <c:v> OTHERS</c:v>
                </c:pt>
              </c:strCache>
            </c:strRef>
          </c:cat>
          <c:val>
            <c:numRef>
              <c:f>Sheet1!$B$2:$B$4</c:f>
              <c:numCache>
                <c:formatCode>0%</c:formatCode>
                <c:ptCount val="3"/>
                <c:pt idx="0">
                  <c:v>0.57999999999999996</c:v>
                </c:pt>
                <c:pt idx="1">
                  <c:v>0.57999999999999996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95-BA47-8A84-AF26CB44BA7F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Shipped Only GM%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KEY ACCOUNTS</c:v>
                </c:pt>
                <c:pt idx="1">
                  <c:v>SPECIALTY CHANNEL ACCOUNTS TOP 10</c:v>
                </c:pt>
                <c:pt idx="2">
                  <c:v> OTHERS</c:v>
                </c:pt>
              </c:strCache>
            </c:strRef>
          </c:cat>
          <c:val>
            <c:numRef>
              <c:f>Sheet1!$C$2:$C$4</c:f>
              <c:numCache>
                <c:formatCode>0%</c:formatCode>
                <c:ptCount val="3"/>
                <c:pt idx="0">
                  <c:v>0.32</c:v>
                </c:pt>
                <c:pt idx="1">
                  <c:v>0.28999999999999998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95-BA47-8A84-AF26CB44BA7F}"/>
            </c:ext>
          </c:extLst>
        </c:ser>
        <c:ser>
          <c:idx val="4"/>
          <c:order val="2"/>
          <c:tx>
            <c:strRef>
              <c:f>Sheet1!$D$1</c:f>
              <c:strCache>
                <c:ptCount val="1"/>
                <c:pt idx="0">
                  <c:v>Total GM%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KEY ACCOUNTS</c:v>
                </c:pt>
                <c:pt idx="1">
                  <c:v>SPECIALTY CHANNEL ACCOUNTS TOP 10</c:v>
                </c:pt>
                <c:pt idx="2">
                  <c:v> OTHERS</c:v>
                </c:pt>
              </c:strCache>
            </c:strRef>
          </c:cat>
          <c:val>
            <c:numRef>
              <c:f>Sheet1!$D$2:$D$4</c:f>
              <c:numCache>
                <c:formatCode>0%</c:formatCode>
                <c:ptCount val="3"/>
                <c:pt idx="0">
                  <c:v>0.53</c:v>
                </c:pt>
                <c:pt idx="1">
                  <c:v>0.52</c:v>
                </c:pt>
                <c:pt idx="2">
                  <c:v>0.52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95-BA47-8A84-AF26CB44BA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07289823"/>
        <c:axId val="1407291535"/>
      </c:barChart>
      <c:catAx>
        <c:axId val="14072898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91535"/>
        <c:crossesAt val="0"/>
        <c:auto val="1"/>
        <c:lblAlgn val="ctr"/>
        <c:lblOffset val="100"/>
        <c:noMultiLvlLbl val="0"/>
      </c:catAx>
      <c:valAx>
        <c:axId val="1407291535"/>
        <c:scaling>
          <c:orientation val="minMax"/>
          <c:max val="1"/>
          <c:min val="0"/>
        </c:scaling>
        <c:delete val="0"/>
        <c:axPos val="l"/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GROSS</a:t>
                </a:r>
                <a:r>
                  <a:rPr lang="en-US" baseline="0"/>
                  <a:t> MARGIN %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7289823"/>
        <c:crosses val="autoZero"/>
        <c:crossBetween val="between"/>
        <c:majorUnit val="1"/>
        <c:minorUnit val="0.1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/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0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B78C9-078D-DE94-59EE-4C55BCF4F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C756F-1A92-C51B-8C78-9F1E9757F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0E007-5348-E3AC-3B1B-0A7A21310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CDF5B-4A16-3915-B536-B6A7AA953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8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77D68-675C-7F43-8325-5350EA50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713CC-55DD-494F-9D57-15A9B36EF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FA0FF3-8804-B58D-8C0D-7024BCA4C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A7D33-20F5-38F3-0A89-9142FC1CD0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535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D6B1D-D436-9EF9-6C85-5BB2780FE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EC7279-34E1-4A93-152C-A4EFD2E061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550BD4-7496-AFEC-B437-C333CE8F2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AF1C9-2577-6C32-FDF8-4270DCC174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4812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715F1-6631-A29C-575A-4FDA085AB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17C8DA-786C-C8B3-673E-ACF32072D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D320D-9A9D-F1FE-3D25-401E22B66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8FFC-2B77-7562-6EDB-647BD2DEFC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109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82058-2D8C-25AE-E6F2-1187D98B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BCAC3-2631-0EFD-A827-5097D01DC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51A51-EF41-7675-DD97-AAC794E5F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B074-E7FD-3A47-35A0-B141801358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4785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067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D340D-3CB5-0682-42B0-8D02C36DA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A7D4B2-E2E4-A0AF-3105-6CE978C40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56AEA7-CF10-2FA1-AF06-3285A3C76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5E094-B79A-488B-DE63-1B75F9C4E2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2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801A-3A20-6061-15B9-F6DB6B8F6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07FF9-CAE8-05A5-3D6D-EAEA38E3B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F438D-654C-7A84-DEE5-1385B31A0A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2FB61-9A89-C724-B3C1-11C08A780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6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9C4C0-411B-F181-317A-3C7E1125E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0E456-CAD6-53EB-8509-421CB99E0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69FD3A-9F82-B4BC-3730-15DD690C2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5CCE9-D2F4-B0DD-61F5-405F306B95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85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grey logo&#10;&#10;AI-generated content may be incorrect.">
            <a:extLst>
              <a:ext uri="{FF2B5EF4-FFF2-40B4-BE49-F238E27FC236}">
                <a16:creationId xmlns:a16="http://schemas.microsoft.com/office/drawing/2014/main" id="{EDB960DD-2309-D9A8-EE50-8A9465523E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72119" y="6574420"/>
            <a:ext cx="664755" cy="855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WEEKLY SALES DASHBOARD</a:t>
            </a:r>
            <a:endParaRPr lang="en-US" sz="6000"/>
          </a:p>
        </p:txBody>
      </p:sp>
      <p:sp>
        <p:nvSpPr>
          <p:cNvPr id="3" name="Text 1"/>
          <p:cNvSpPr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009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Sales Performance Report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Ending: February 20,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4572000"/>
            <a:ext cx="4572000" cy="182880"/>
          </a:xfrm>
          <a:prstGeom prst="rect">
            <a:avLst/>
          </a:prstGeom>
          <a:solidFill>
            <a:srgbClr val="00B0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35F21E-2A98-E829-4404-E4F412C1600C}"/>
              </a:ext>
            </a:extLst>
          </p:cNvPr>
          <p:cNvSpPr txBox="1"/>
          <p:nvPr/>
        </p:nvSpPr>
        <p:spPr>
          <a:xfrm>
            <a:off x="1488831" y="1008185"/>
            <a:ext cx="2592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Incoming Orders – by Rep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5A636B-EBA4-12A2-9073-FFC04DACF676}"/>
              </a:ext>
            </a:extLst>
          </p:cNvPr>
          <p:cNvSpPr txBox="1"/>
          <p:nvPr/>
        </p:nvSpPr>
        <p:spPr>
          <a:xfrm>
            <a:off x="866775" y="5238750"/>
            <a:ext cx="6381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Shown in USD. BY Rep – Current / rest of dashboard 1 week delay</a:t>
            </a:r>
          </a:p>
        </p:txBody>
      </p:sp>
    </p:spTree>
    <p:extLst>
      <p:ext uri="{BB962C8B-B14F-4D97-AF65-F5344CB8AC3E}">
        <p14:creationId xmlns:p14="http://schemas.microsoft.com/office/powerpoint/2010/main" val="4234859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GLOBAL SALES BY REGION</a:t>
            </a:r>
            <a:endParaRPr lang="en-US" sz="2800"/>
          </a:p>
        </p:txBody>
      </p:sp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858415206"/>
              </p:ext>
            </p:extLst>
          </p:nvPr>
        </p:nvGraphicFramePr>
        <p:xfrm>
          <a:off x="306539" y="1045531"/>
          <a:ext cx="874395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>
            <a:extLst>
              <a:ext uri="{FF2B5EF4-FFF2-40B4-BE49-F238E27FC236}">
                <a16:creationId xmlns:a16="http://schemas.microsoft.com/office/drawing/2014/main" id="{255C4C55-ABC5-34CC-8B1E-21A13944BAE6}"/>
              </a:ext>
            </a:extLst>
          </p:cNvPr>
          <p:cNvSpPr/>
          <p:nvPr/>
        </p:nvSpPr>
        <p:spPr>
          <a:xfrm>
            <a:off x="6913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70AAFBC-C2A3-900A-F845-257FD7C56528}"/>
              </a:ext>
            </a:extLst>
          </p:cNvPr>
          <p:cNvSpPr/>
          <p:nvPr/>
        </p:nvSpPr>
        <p:spPr>
          <a:xfrm>
            <a:off x="7827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CANADA</a:t>
            </a:r>
            <a:endParaRPr lang="en-US" sz="140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2B8321B4-1202-41D9-839F-D39B3D967637}"/>
              </a:ext>
            </a:extLst>
          </p:cNvPr>
          <p:cNvSpPr/>
          <p:nvPr/>
        </p:nvSpPr>
        <p:spPr>
          <a:xfrm>
            <a:off x="7827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$9.52M</a:t>
            </a:r>
            <a:endParaRPr lang="en-US" sz="36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B39E2200-B857-FEF1-6270-FAEAEE4612FA}"/>
              </a:ext>
            </a:extLst>
          </p:cNvPr>
          <p:cNvSpPr/>
          <p:nvPr/>
        </p:nvSpPr>
        <p:spPr>
          <a:xfrm>
            <a:off x="34345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728A16E-7FDE-DD78-386A-EC94695B250A}"/>
              </a:ext>
            </a:extLst>
          </p:cNvPr>
          <p:cNvSpPr/>
          <p:nvPr/>
        </p:nvSpPr>
        <p:spPr>
          <a:xfrm>
            <a:off x="35259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</a:t>
            </a:r>
            <a:endParaRPr lang="en-US" sz="14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18660F3-9E3F-5F7F-93E2-77C6E9D6484E}"/>
              </a:ext>
            </a:extLst>
          </p:cNvPr>
          <p:cNvSpPr/>
          <p:nvPr/>
        </p:nvSpPr>
        <p:spPr>
          <a:xfrm>
            <a:off x="35259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$7.45M</a:t>
            </a:r>
            <a:endParaRPr lang="en-US" sz="360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397C312E-4544-AFE2-E99E-260B36D137F4}"/>
              </a:ext>
            </a:extLst>
          </p:cNvPr>
          <p:cNvSpPr/>
          <p:nvPr/>
        </p:nvSpPr>
        <p:spPr>
          <a:xfrm>
            <a:off x="61777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2CBF015-0AD1-4678-225F-96431815D999}"/>
              </a:ext>
            </a:extLst>
          </p:cNvPr>
          <p:cNvSpPr/>
          <p:nvPr/>
        </p:nvSpPr>
        <p:spPr>
          <a:xfrm>
            <a:off x="62691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140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A3EDA77-BA79-F4F0-C148-109982A41EB2}"/>
              </a:ext>
            </a:extLst>
          </p:cNvPr>
          <p:cNvSpPr/>
          <p:nvPr/>
        </p:nvSpPr>
        <p:spPr>
          <a:xfrm>
            <a:off x="62691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$3.36M</a:t>
            </a:r>
            <a:endParaRPr lang="en-US" sz="36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A00DA16-996F-E69C-3315-82F342CC5572}"/>
              </a:ext>
            </a:extLst>
          </p:cNvPr>
          <p:cNvSpPr/>
          <p:nvPr/>
        </p:nvSpPr>
        <p:spPr>
          <a:xfrm>
            <a:off x="6269168" y="574866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to Budget</a:t>
            </a:r>
            <a:endParaRPr lang="en-US" sz="140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1151CBB8-68F6-EE31-335A-C0B97AD2BA92}"/>
              </a:ext>
            </a:extLst>
          </p:cNvPr>
          <p:cNvSpPr/>
          <p:nvPr/>
        </p:nvSpPr>
        <p:spPr>
          <a:xfrm>
            <a:off x="89209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B86AC36F-7025-95AD-C0F8-CBEB01D5ABD0}"/>
              </a:ext>
            </a:extLst>
          </p:cNvPr>
          <p:cNvSpPr/>
          <p:nvPr/>
        </p:nvSpPr>
        <p:spPr>
          <a:xfrm>
            <a:off x="90123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140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F9DB8EE-E481-32DB-A316-9D78A9558D4D}"/>
              </a:ext>
            </a:extLst>
          </p:cNvPr>
          <p:cNvSpPr/>
          <p:nvPr/>
        </p:nvSpPr>
        <p:spPr>
          <a:xfrm>
            <a:off x="90123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$.09M</a:t>
            </a:r>
            <a:endParaRPr lang="en-US" sz="3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EF07F50-631D-0A82-526D-1A64C15A12DF}"/>
              </a:ext>
            </a:extLst>
          </p:cNvPr>
          <p:cNvSpPr/>
          <p:nvPr/>
        </p:nvSpPr>
        <p:spPr>
          <a:xfrm>
            <a:off x="9012368" y="574866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to Budget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7967253E-5274-94EB-0DE9-774A7AE1D08B}"/>
              </a:ext>
            </a:extLst>
          </p:cNvPr>
          <p:cNvSpPr/>
          <p:nvPr/>
        </p:nvSpPr>
        <p:spPr>
          <a:xfrm>
            <a:off x="3489794" y="574866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to Budget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8454093-0E58-728E-92A2-0E065947784C}"/>
              </a:ext>
            </a:extLst>
          </p:cNvPr>
          <p:cNvSpPr/>
          <p:nvPr/>
        </p:nvSpPr>
        <p:spPr>
          <a:xfrm>
            <a:off x="691328" y="574866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 to Budget</a:t>
            </a:r>
            <a:endParaRPr lang="en-US" sz="1400" dirty="0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E85A3C97-07DF-BE4A-8E3A-18EB196BF1D6}"/>
              </a:ext>
            </a:extLst>
          </p:cNvPr>
          <p:cNvSpPr/>
          <p:nvPr/>
        </p:nvSpPr>
        <p:spPr>
          <a:xfrm>
            <a:off x="9325141" y="1600200"/>
            <a:ext cx="2560320" cy="1828800"/>
          </a:xfrm>
          <a:prstGeom prst="rect">
            <a:avLst/>
          </a:prstGeom>
          <a:solidFill>
            <a:srgbClr val="F5F7FA"/>
          </a:solidFill>
          <a:ln w="508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1E2663AD-B2E9-AAC1-4F45-B8932D23A847}"/>
              </a:ext>
            </a:extLst>
          </p:cNvPr>
          <p:cNvSpPr/>
          <p:nvPr/>
        </p:nvSpPr>
        <p:spPr>
          <a:xfrm>
            <a:off x="9416581" y="1691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- GLOBAL</a:t>
            </a:r>
            <a:endParaRPr lang="en-US" sz="1400" dirty="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44BA875C-0467-09F6-10C0-B1A4A11BFD27}"/>
              </a:ext>
            </a:extLst>
          </p:cNvPr>
          <p:cNvSpPr/>
          <p:nvPr/>
        </p:nvSpPr>
        <p:spPr>
          <a:xfrm>
            <a:off x="9416581" y="2103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$20.43M</a:t>
            </a:r>
            <a:endParaRPr lang="en-US" sz="36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C9755EF0-4E00-BFA8-548B-660DA8F05C1A}"/>
              </a:ext>
            </a:extLst>
          </p:cNvPr>
          <p:cNvSpPr/>
          <p:nvPr/>
        </p:nvSpPr>
        <p:spPr>
          <a:xfrm>
            <a:off x="9416581" y="27889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to Budget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E0557D-0E96-4B67-2DE8-5B0E6B965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65C2A0-1839-A7A2-9CE1-DECF1AB87302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3A369BD-93FF-5FC4-797A-2DF5C02D8EA6}"/>
              </a:ext>
            </a:extLst>
          </p:cNvPr>
          <p:cNvSpPr/>
          <p:nvPr/>
        </p:nvSpPr>
        <p:spPr>
          <a:xfrm>
            <a:off x="457199" y="137160"/>
            <a:ext cx="114972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PERFORMANCE – NORTH AMERICA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C58053-31D5-0696-3448-B815AF697E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5452674"/>
              </p:ext>
            </p:extLst>
          </p:nvPr>
        </p:nvGraphicFramePr>
        <p:xfrm>
          <a:off x="613507" y="970503"/>
          <a:ext cx="11340927" cy="31146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>
            <a:extLst>
              <a:ext uri="{FF2B5EF4-FFF2-40B4-BE49-F238E27FC236}">
                <a16:creationId xmlns:a16="http://schemas.microsoft.com/office/drawing/2014/main" id="{F01DEBF9-6004-2137-CAF2-1A86FA9DDBB1}"/>
              </a:ext>
            </a:extLst>
          </p:cNvPr>
          <p:cNvSpPr/>
          <p:nvPr/>
        </p:nvSpPr>
        <p:spPr>
          <a:xfrm>
            <a:off x="6913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5DA7B0-B279-3734-921C-57641910856E}"/>
              </a:ext>
            </a:extLst>
          </p:cNvPr>
          <p:cNvSpPr/>
          <p:nvPr/>
        </p:nvSpPr>
        <p:spPr>
          <a:xfrm>
            <a:off x="7827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ACCOUNTS</a:t>
            </a:r>
            <a:endParaRPr lang="en-US" sz="1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878933B-594F-66C9-89A7-7574C7268E81}"/>
              </a:ext>
            </a:extLst>
          </p:cNvPr>
          <p:cNvSpPr/>
          <p:nvPr/>
        </p:nvSpPr>
        <p:spPr>
          <a:xfrm>
            <a:off x="7827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cs typeface="Arial Black" pitchFamily="34" charset="-120"/>
              </a:rPr>
              <a:t>$7.57M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14DDA4-6993-767B-C47B-D85F5928B562}"/>
              </a:ext>
            </a:extLst>
          </p:cNvPr>
          <p:cNvSpPr/>
          <p:nvPr/>
        </p:nvSpPr>
        <p:spPr>
          <a:xfrm>
            <a:off x="34345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C8CE6EC-49E8-F3E4-1DE3-75D8B7DAA88A}"/>
              </a:ext>
            </a:extLst>
          </p:cNvPr>
          <p:cNvSpPr/>
          <p:nvPr/>
        </p:nvSpPr>
        <p:spPr>
          <a:xfrm>
            <a:off x="3525968" y="4651382"/>
            <a:ext cx="23774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Arial"/>
                <a:cs typeface="Arial"/>
              </a:rPr>
              <a:t>SPECIALITY</a:t>
            </a:r>
            <a:endParaRPr lang="en-US" sz="14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3502363-9978-6D60-D37B-DD09BCF50C6B}"/>
              </a:ext>
            </a:extLst>
          </p:cNvPr>
          <p:cNvSpPr/>
          <p:nvPr/>
        </p:nvSpPr>
        <p:spPr>
          <a:xfrm>
            <a:off x="35259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$7.58M</a:t>
            </a:r>
            <a:endParaRPr lang="en-US" sz="3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83676E44-705A-1C82-354F-A8D6B29092EB}"/>
              </a:ext>
            </a:extLst>
          </p:cNvPr>
          <p:cNvSpPr/>
          <p:nvPr/>
        </p:nvSpPr>
        <p:spPr>
          <a:xfrm>
            <a:off x="61777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8997695-4560-0894-3264-06FB06E0768E}"/>
              </a:ext>
            </a:extLst>
          </p:cNvPr>
          <p:cNvSpPr/>
          <p:nvPr/>
        </p:nvSpPr>
        <p:spPr>
          <a:xfrm>
            <a:off x="62691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4F3E5080-BB34-0CF8-A6F0-663BB4E8D193}"/>
              </a:ext>
            </a:extLst>
          </p:cNvPr>
          <p:cNvSpPr/>
          <p:nvPr/>
        </p:nvSpPr>
        <p:spPr>
          <a:xfrm>
            <a:off x="62691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$0.98M</a:t>
            </a:r>
            <a:endParaRPr lang="en-US" sz="3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00DF79BB-4F47-AD65-6F63-F2C440D80A65}"/>
              </a:ext>
            </a:extLst>
          </p:cNvPr>
          <p:cNvSpPr/>
          <p:nvPr/>
        </p:nvSpPr>
        <p:spPr>
          <a:xfrm>
            <a:off x="8920928" y="4559942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D7FE54F-5949-F91C-C369-EE8F32F8A062}"/>
              </a:ext>
            </a:extLst>
          </p:cNvPr>
          <p:cNvSpPr/>
          <p:nvPr/>
        </p:nvSpPr>
        <p:spPr>
          <a:xfrm>
            <a:off x="9012368" y="465138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</a:t>
            </a:r>
            <a:endParaRPr lang="en-US" sz="14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7F6C1F0-42CA-1831-A21D-15769A40779F}"/>
              </a:ext>
            </a:extLst>
          </p:cNvPr>
          <p:cNvSpPr/>
          <p:nvPr/>
        </p:nvSpPr>
        <p:spPr>
          <a:xfrm>
            <a:off x="9012368" y="506286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$0.22M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89A0E39-883B-E8DC-D3A2-3287BD14400C}"/>
              </a:ext>
            </a:extLst>
          </p:cNvPr>
          <p:cNvSpPr/>
          <p:nvPr/>
        </p:nvSpPr>
        <p:spPr>
          <a:xfrm>
            <a:off x="782768" y="5751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 TO GOAL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ED7EFA2-BB2C-159A-006A-D6C4EF196B91}"/>
              </a:ext>
            </a:extLst>
          </p:cNvPr>
          <p:cNvSpPr/>
          <p:nvPr/>
        </p:nvSpPr>
        <p:spPr>
          <a:xfrm>
            <a:off x="3434528" y="5712399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TO GOAL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C339C0B-2731-B352-25CA-00277294CDCD}"/>
              </a:ext>
            </a:extLst>
          </p:cNvPr>
          <p:cNvSpPr/>
          <p:nvPr/>
        </p:nvSpPr>
        <p:spPr>
          <a:xfrm>
            <a:off x="6269168" y="57004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 TO GOAL</a:t>
            </a:r>
            <a:endParaRPr lang="en-US" sz="140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D0932530-02A9-FCE2-0651-07CA99A01529}"/>
              </a:ext>
            </a:extLst>
          </p:cNvPr>
          <p:cNvSpPr/>
          <p:nvPr/>
        </p:nvSpPr>
        <p:spPr>
          <a:xfrm>
            <a:off x="9012368" y="5712399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TO GOAL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261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2E04D-8081-62D4-5DEA-1742768ED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0FA2C1-312E-DC9F-988E-96E525B5334E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1767B0-46C1-025A-752F-1D1275B0BEAC}"/>
              </a:ext>
            </a:extLst>
          </p:cNvPr>
          <p:cNvSpPr/>
          <p:nvPr/>
        </p:nvSpPr>
        <p:spPr>
          <a:xfrm>
            <a:off x="457199" y="137160"/>
            <a:ext cx="120485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CHANNEL PERFORMANCE - NA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18DCBFD0-23D2-4109-8740-C0BE61B1E0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6198878"/>
              </p:ext>
            </p:extLst>
          </p:nvPr>
        </p:nvGraphicFramePr>
        <p:xfrm>
          <a:off x="366939" y="1952762"/>
          <a:ext cx="5398063" cy="3447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87D8E428-6269-3A99-B2AF-5E337E1619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827548"/>
              </p:ext>
            </p:extLst>
          </p:nvPr>
        </p:nvGraphicFramePr>
        <p:xfrm>
          <a:off x="6313113" y="1952762"/>
          <a:ext cx="5398063" cy="3447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923021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CB9C2-8CC4-258A-E90F-F9A43018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2D2EFC-43C5-E1F7-C94E-862B9E454714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6FFF85-960E-9197-7825-85F6BEB3C679}"/>
              </a:ext>
            </a:extLst>
          </p:cNvPr>
          <p:cNvSpPr/>
          <p:nvPr/>
        </p:nvSpPr>
        <p:spPr>
          <a:xfrm>
            <a:off x="457199" y="137160"/>
            <a:ext cx="120485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CHANNEL PERFORMANCE - ELITE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1F381E7-2635-8A95-E496-AEB9D1AE34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43792277"/>
              </p:ext>
            </p:extLst>
          </p:nvPr>
        </p:nvGraphicFramePr>
        <p:xfrm>
          <a:off x="2193322" y="1289416"/>
          <a:ext cx="7802307" cy="49825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6651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5750B-4C62-265A-4808-724A6DF7B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639E3B-8CDE-5274-428A-12A27FE890EA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6ADF03-8F08-D557-0BDB-6B58AAB11798}"/>
              </a:ext>
            </a:extLst>
          </p:cNvPr>
          <p:cNvSpPr/>
          <p:nvPr/>
        </p:nvSpPr>
        <p:spPr>
          <a:xfrm>
            <a:off x="457199" y="137160"/>
            <a:ext cx="120485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GROSS MARGIN CHANNEL PERFORMANCE - NA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2E4FF80-7A7B-03BC-B952-14AA3DF533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0285094"/>
              </p:ext>
            </p:extLst>
          </p:nvPr>
        </p:nvGraphicFramePr>
        <p:xfrm>
          <a:off x="1134460" y="730371"/>
          <a:ext cx="9064560" cy="3306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>
            <a:extLst>
              <a:ext uri="{FF2B5EF4-FFF2-40B4-BE49-F238E27FC236}">
                <a16:creationId xmlns:a16="http://schemas.microsoft.com/office/drawing/2014/main" id="{E5799E6D-E3DD-4A70-20C6-C8849D56A7DD}"/>
              </a:ext>
            </a:extLst>
          </p:cNvPr>
          <p:cNvSpPr/>
          <p:nvPr/>
        </p:nvSpPr>
        <p:spPr>
          <a:xfrm>
            <a:off x="652251" y="4169173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A02F880-5668-4D80-FEB8-52D8DC9F280B}"/>
              </a:ext>
            </a:extLst>
          </p:cNvPr>
          <p:cNvSpPr/>
          <p:nvPr/>
        </p:nvSpPr>
        <p:spPr>
          <a:xfrm>
            <a:off x="782768" y="424107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ACCOUNTS</a:t>
            </a:r>
            <a:endParaRPr lang="en-US" sz="1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4AFE2F05-E740-D605-2E0A-899297AB2C4F}"/>
              </a:ext>
            </a:extLst>
          </p:cNvPr>
          <p:cNvSpPr/>
          <p:nvPr/>
        </p:nvSpPr>
        <p:spPr>
          <a:xfrm>
            <a:off x="880460" y="465255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cs typeface="Arial Black" pitchFamily="34" charset="-120"/>
              </a:rPr>
              <a:t>49%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92C04A20-D941-4290-9A78-FFA1D1E17306}"/>
              </a:ext>
            </a:extLst>
          </p:cNvPr>
          <p:cNvSpPr/>
          <p:nvPr/>
        </p:nvSpPr>
        <p:spPr>
          <a:xfrm>
            <a:off x="3434528" y="4159404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9A2293F-4870-8FBC-B25F-9CF7A61C779B}"/>
              </a:ext>
            </a:extLst>
          </p:cNvPr>
          <p:cNvSpPr/>
          <p:nvPr/>
        </p:nvSpPr>
        <p:spPr>
          <a:xfrm>
            <a:off x="3525968" y="424107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</a:t>
            </a:r>
            <a:endParaRPr lang="en-US"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2E10037-EE3A-A86F-0447-B4ADA779B2D0}"/>
              </a:ext>
            </a:extLst>
          </p:cNvPr>
          <p:cNvSpPr/>
          <p:nvPr/>
        </p:nvSpPr>
        <p:spPr>
          <a:xfrm>
            <a:off x="3525968" y="465255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51%</a:t>
            </a:r>
            <a:endParaRPr lang="en-US" sz="3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43573AF-1859-6AE6-59F3-C8342FC8E751}"/>
              </a:ext>
            </a:extLst>
          </p:cNvPr>
          <p:cNvSpPr/>
          <p:nvPr/>
        </p:nvSpPr>
        <p:spPr>
          <a:xfrm>
            <a:off x="6275420" y="4159404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70FBC6F-8E7D-332D-21B9-BD7CAF5D3376}"/>
              </a:ext>
            </a:extLst>
          </p:cNvPr>
          <p:cNvSpPr/>
          <p:nvPr/>
        </p:nvSpPr>
        <p:spPr>
          <a:xfrm>
            <a:off x="6278937" y="424107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66B9E571-27B9-795A-708B-9ACBEE930D63}"/>
              </a:ext>
            </a:extLst>
          </p:cNvPr>
          <p:cNvSpPr/>
          <p:nvPr/>
        </p:nvSpPr>
        <p:spPr>
          <a:xfrm>
            <a:off x="6366860" y="465255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66%</a:t>
            </a:r>
            <a:endParaRPr lang="en-US" sz="360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7D268655-A946-29CB-5554-41C1E6F565C4}"/>
              </a:ext>
            </a:extLst>
          </p:cNvPr>
          <p:cNvSpPr/>
          <p:nvPr/>
        </p:nvSpPr>
        <p:spPr>
          <a:xfrm>
            <a:off x="9077236" y="4169173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473A5CA-7A02-58E8-E3C1-6E1C533499CC}"/>
              </a:ext>
            </a:extLst>
          </p:cNvPr>
          <p:cNvSpPr/>
          <p:nvPr/>
        </p:nvSpPr>
        <p:spPr>
          <a:xfrm>
            <a:off x="9119830" y="424107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</a:t>
            </a:r>
            <a:endParaRPr lang="en-US" sz="140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5D06EB8-88AE-8447-7613-170B9B230D59}"/>
              </a:ext>
            </a:extLst>
          </p:cNvPr>
          <p:cNvSpPr/>
          <p:nvPr/>
        </p:nvSpPr>
        <p:spPr>
          <a:xfrm>
            <a:off x="9305445" y="465255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360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996AE35-494C-6E3C-0F9D-088AE5F619DD}"/>
              </a:ext>
            </a:extLst>
          </p:cNvPr>
          <p:cNvSpPr/>
          <p:nvPr/>
        </p:nvSpPr>
        <p:spPr>
          <a:xfrm>
            <a:off x="782768" y="53410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MARGIN</a:t>
            </a:r>
            <a:endParaRPr lang="en-US" sz="140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94DBAC23-1ADF-E824-7C33-DE16429D8184}"/>
              </a:ext>
            </a:extLst>
          </p:cNvPr>
          <p:cNvSpPr/>
          <p:nvPr/>
        </p:nvSpPr>
        <p:spPr>
          <a:xfrm>
            <a:off x="3522451" y="5341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MARGIN</a:t>
            </a:r>
            <a:endParaRPr lang="en-US" sz="140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0BC80FF7-514A-C0F1-C98D-6E805AB011CB}"/>
              </a:ext>
            </a:extLst>
          </p:cNvPr>
          <p:cNvSpPr/>
          <p:nvPr/>
        </p:nvSpPr>
        <p:spPr>
          <a:xfrm>
            <a:off x="6278937" y="5341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MARGIN</a:t>
            </a:r>
            <a:endParaRPr lang="en-US" sz="140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8B77DB2-E591-4C2C-7385-19DE5BC4E5AA}"/>
              </a:ext>
            </a:extLst>
          </p:cNvPr>
          <p:cNvSpPr/>
          <p:nvPr/>
        </p:nvSpPr>
        <p:spPr>
          <a:xfrm>
            <a:off x="9165159" y="534480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GROSS MARGIN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542621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4: NA TEAM - TOP PERFORMERS</a:t>
            </a:r>
            <a:endParaRPr lang="en-US" sz="28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4E72303-A097-ED04-9272-FB1C23B7A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170079"/>
              </p:ext>
            </p:extLst>
          </p:nvPr>
        </p:nvGraphicFramePr>
        <p:xfrm>
          <a:off x="6389078" y="868680"/>
          <a:ext cx="5627077" cy="561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C1E9EC1-690C-C3E0-D694-B1040075BA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6521797"/>
              </p:ext>
            </p:extLst>
          </p:nvPr>
        </p:nvGraphicFramePr>
        <p:xfrm>
          <a:off x="397071" y="868680"/>
          <a:ext cx="5546529" cy="56110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5: NA TEAM - CATEGORY LEADERS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335280" y="1920240"/>
            <a:ext cx="3657600" cy="365760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52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STICKS - TOP 5</a:t>
            </a:r>
            <a:endParaRPr lang="en-US" sz="14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628376"/>
              </p:ext>
            </p:extLst>
          </p:nvPr>
        </p:nvGraphicFramePr>
        <p:xfrm>
          <a:off x="335280" y="2377440"/>
          <a:ext cx="3657600" cy="2103120"/>
        </p:xfrm>
        <a:graphic>
          <a:graphicData uri="http://schemas.openxmlformats.org/drawingml/2006/table">
            <a:tbl>
              <a:tblPr/>
              <a:tblGrid>
                <a:gridCol w="883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Rep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% to Goal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Vincent Pizzo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Steve Boersma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Marc-Andre Bellehumeur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Scott Sissons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Zac Lampson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267200" y="1920240"/>
            <a:ext cx="3657600" cy="36576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6720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SKATES - TOP 5</a:t>
            </a:r>
            <a:endParaRPr lang="en-US" sz="140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632513"/>
              </p:ext>
            </p:extLst>
          </p:nvPr>
        </p:nvGraphicFramePr>
        <p:xfrm>
          <a:off x="4267200" y="2377440"/>
          <a:ext cx="3657600" cy="210312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Rep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%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Jesse Nifong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Marc-Andre Bellehumeur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KEY ACCOUNT - 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Zac Lampson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Jeff Lynch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8199120" y="1920240"/>
            <a:ext cx="365760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819912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SKATES – TOP 5</a:t>
            </a:r>
            <a:endParaRPr lang="en-US" sz="140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4420051"/>
              </p:ext>
            </p:extLst>
          </p:nvPr>
        </p:nvGraphicFramePr>
        <p:xfrm>
          <a:off x="8199120" y="2377440"/>
          <a:ext cx="3657600" cy="2103120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Rep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</a:rPr>
                        <a:t>%</a:t>
                      </a:r>
                      <a:endParaRPr lang="en-US" sz="1000"/>
                    </a:p>
                  </a:txBody>
                  <a:tcPr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KEY ACCOUNT - US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KEY ACCOUNT  - 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Vincent Pizzo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Brent Hobday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/>
                    </a:p>
                  </a:txBody>
                  <a:tcPr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Steve Boersma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7AE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6EF5F-C1D9-76CF-C038-7B20A2F7F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0205AF-C3AC-5E78-8B67-D5056F565B1E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6486476-4AAD-E8A6-C4DE-790F1BA98705}"/>
              </a:ext>
            </a:extLst>
          </p:cNvPr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5: NA TEAM - CATEGORY LEADERS</a:t>
            </a:r>
            <a:endParaRPr lang="en-US" sz="28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C5FE5D-0D8F-64B3-1394-B091A03BE539}"/>
              </a:ext>
            </a:extLst>
          </p:cNvPr>
          <p:cNvSpPr/>
          <p:nvPr/>
        </p:nvSpPr>
        <p:spPr>
          <a:xfrm>
            <a:off x="1120250" y="1939675"/>
            <a:ext cx="4894470" cy="489447"/>
          </a:xfrm>
          <a:prstGeom prst="rect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21A16A-2938-3AE0-BAB1-BFE2C19595C6}"/>
              </a:ext>
            </a:extLst>
          </p:cNvPr>
          <p:cNvSpPr/>
          <p:nvPr/>
        </p:nvSpPr>
        <p:spPr>
          <a:xfrm>
            <a:off x="1120250" y="1939675"/>
            <a:ext cx="4894470" cy="489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Goalie - TOP 5</a:t>
            </a:r>
            <a:endParaRPr lang="en-US" sz="1400"/>
          </a:p>
        </p:txBody>
      </p:sp>
      <p:graphicFrame>
        <p:nvGraphicFramePr>
          <p:cNvPr id="7" name="Table 0">
            <a:extLst>
              <a:ext uri="{FF2B5EF4-FFF2-40B4-BE49-F238E27FC236}">
                <a16:creationId xmlns:a16="http://schemas.microsoft.com/office/drawing/2014/main" id="{089667F1-47D1-E795-FDEB-87470F552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116100"/>
              </p:ext>
            </p:extLst>
          </p:nvPr>
        </p:nvGraphicFramePr>
        <p:xfrm>
          <a:off x="1120250" y="2396876"/>
          <a:ext cx="4894470" cy="2814318"/>
        </p:xfrm>
        <a:graphic>
          <a:graphicData uri="http://schemas.openxmlformats.org/drawingml/2006/table">
            <a:tbl>
              <a:tblPr/>
              <a:tblGrid>
                <a:gridCol w="118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Rep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% to Goal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Jesse Nifong (Hockey)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298%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Marc-Andre Bellehumeur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135%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 Account - CA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131%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Matt Shaw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102%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Brad Savelson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99%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98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B3BF7E58-3A85-3EE8-B930-FE8141202963}"/>
              </a:ext>
            </a:extLst>
          </p:cNvPr>
          <p:cNvSpPr/>
          <p:nvPr/>
        </p:nvSpPr>
        <p:spPr>
          <a:xfrm>
            <a:off x="6403450" y="1939675"/>
            <a:ext cx="4894470" cy="489447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8EBC55D-9ADE-7524-235F-10D31B888C76}"/>
              </a:ext>
            </a:extLst>
          </p:cNvPr>
          <p:cNvSpPr/>
          <p:nvPr/>
        </p:nvSpPr>
        <p:spPr>
          <a:xfrm>
            <a:off x="6403450" y="1939675"/>
            <a:ext cx="4894470" cy="4894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Goalie - TOP 5</a:t>
            </a:r>
            <a:endParaRPr lang="en-US" sz="1400"/>
          </a:p>
        </p:txBody>
      </p:sp>
      <p:graphicFrame>
        <p:nvGraphicFramePr>
          <p:cNvPr id="13" name="Table 1">
            <a:extLst>
              <a:ext uri="{FF2B5EF4-FFF2-40B4-BE49-F238E27FC236}">
                <a16:creationId xmlns:a16="http://schemas.microsoft.com/office/drawing/2014/main" id="{07241DD3-B085-D22A-A917-CF61EE8BE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657140"/>
              </p:ext>
            </p:extLst>
          </p:nvPr>
        </p:nvGraphicFramePr>
        <p:xfrm>
          <a:off x="6403450" y="2396876"/>
          <a:ext cx="4894470" cy="2814318"/>
        </p:xfrm>
        <a:graphic>
          <a:graphicData uri="http://schemas.openxmlformats.org/drawingml/2006/table">
            <a:tbl>
              <a:tblPr/>
              <a:tblGrid>
                <a:gridCol w="1631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1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1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#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Rep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>
                          <a:solidFill>
                            <a:srgbClr val="000000"/>
                          </a:solidFill>
                        </a:rPr>
                        <a:t>% to Goal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KEY ACCOUNT - CA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81%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Mario Richard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Greg Pettis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Brent Hobday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0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/>
                    </a:p>
                  </a:txBody>
                  <a:tcPr marL="122362" marR="122362" marT="61181" marB="61181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Jeff Lynch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28%</a:t>
                      </a:r>
                    </a:p>
                  </a:txBody>
                  <a:tcPr marL="12746" marR="12746" marT="12746" marB="0" anchor="ctr">
                    <a:lnL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95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CHANNEL PERFORMANCE - EU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BB3C240-50F1-BEB0-A6D5-5A32B399F6E7}"/>
              </a:ext>
            </a:extLst>
          </p:cNvPr>
          <p:cNvGraphicFramePr/>
          <p:nvPr/>
        </p:nvGraphicFramePr>
        <p:xfrm>
          <a:off x="463146" y="1065505"/>
          <a:ext cx="11262659" cy="32644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2">
            <a:extLst>
              <a:ext uri="{FF2B5EF4-FFF2-40B4-BE49-F238E27FC236}">
                <a16:creationId xmlns:a16="http://schemas.microsoft.com/office/drawing/2014/main" id="{4F25B4BE-4D69-BA60-D60B-FDDB035BF3E4}"/>
              </a:ext>
            </a:extLst>
          </p:cNvPr>
          <p:cNvSpPr/>
          <p:nvPr/>
        </p:nvSpPr>
        <p:spPr>
          <a:xfrm>
            <a:off x="1928457" y="4663937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03282D2-B846-D9AE-2000-77A7FACE0463}"/>
              </a:ext>
            </a:extLst>
          </p:cNvPr>
          <p:cNvSpPr/>
          <p:nvPr/>
        </p:nvSpPr>
        <p:spPr>
          <a:xfrm>
            <a:off x="2019897" y="475537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ACCOUNTS</a:t>
            </a:r>
            <a:endParaRPr lang="en-US" sz="140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253C3B92-352D-B17B-5D90-7F541174606A}"/>
              </a:ext>
            </a:extLst>
          </p:cNvPr>
          <p:cNvSpPr/>
          <p:nvPr/>
        </p:nvSpPr>
        <p:spPr>
          <a:xfrm>
            <a:off x="2019897" y="516685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cs typeface="Arial Black" pitchFamily="34" charset="-120"/>
              </a:rPr>
              <a:t>68%</a:t>
            </a:r>
            <a:endParaRPr lang="en-US" sz="36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F5A1FF0-3819-83D0-A3BA-E7B774401D31}"/>
              </a:ext>
            </a:extLst>
          </p:cNvPr>
          <p:cNvSpPr/>
          <p:nvPr/>
        </p:nvSpPr>
        <p:spPr>
          <a:xfrm>
            <a:off x="4671657" y="4663937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E1B0283-1A36-583D-0D7D-919C9B700E71}"/>
              </a:ext>
            </a:extLst>
          </p:cNvPr>
          <p:cNvSpPr/>
          <p:nvPr/>
        </p:nvSpPr>
        <p:spPr>
          <a:xfrm>
            <a:off x="4763097" y="475537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TOP 10</a:t>
            </a:r>
            <a:endParaRPr lang="en-US" sz="140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A4A2EAF-2EF3-B240-7556-90B786EDDCE9}"/>
              </a:ext>
            </a:extLst>
          </p:cNvPr>
          <p:cNvSpPr/>
          <p:nvPr/>
        </p:nvSpPr>
        <p:spPr>
          <a:xfrm>
            <a:off x="4763097" y="516685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39%</a:t>
            </a:r>
            <a:endParaRPr lang="en-US" sz="36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9637ED6B-909C-3D3C-B06D-D036DADA024C}"/>
              </a:ext>
            </a:extLst>
          </p:cNvPr>
          <p:cNvSpPr/>
          <p:nvPr/>
        </p:nvSpPr>
        <p:spPr>
          <a:xfrm>
            <a:off x="7414857" y="4663937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9EBE3AF-4F23-E0AE-A2E6-13E11A68317D}"/>
              </a:ext>
            </a:extLst>
          </p:cNvPr>
          <p:cNvSpPr/>
          <p:nvPr/>
        </p:nvSpPr>
        <p:spPr>
          <a:xfrm>
            <a:off x="7506297" y="4755377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366"/>
                </a:solidFill>
                <a:latin typeface="Arial" pitchFamily="34" charset="0"/>
                <a:cs typeface="Arial" pitchFamily="34" charset="-120"/>
              </a:rPr>
              <a:t>OTHERS</a:t>
            </a:r>
            <a:endParaRPr lang="en-US" sz="140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23E7FB04-8046-AB66-5E59-2087AF2D1EA5}"/>
              </a:ext>
            </a:extLst>
          </p:cNvPr>
          <p:cNvSpPr/>
          <p:nvPr/>
        </p:nvSpPr>
        <p:spPr>
          <a:xfrm>
            <a:off x="7506297" y="5166857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</a:rPr>
              <a:t>45%</a:t>
            </a:r>
            <a:endParaRPr lang="en-US" sz="3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348BAF5B-38C4-CBF6-9AE1-A88B4C565B02}"/>
              </a:ext>
            </a:extLst>
          </p:cNvPr>
          <p:cNvSpPr/>
          <p:nvPr/>
        </p:nvSpPr>
        <p:spPr>
          <a:xfrm>
            <a:off x="2019897" y="5855347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BUDGET</a:t>
            </a:r>
            <a:endParaRPr lang="en-US" sz="14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9A617696-682B-AF14-2CFF-7D65F49373FA}"/>
              </a:ext>
            </a:extLst>
          </p:cNvPr>
          <p:cNvSpPr/>
          <p:nvPr/>
        </p:nvSpPr>
        <p:spPr>
          <a:xfrm>
            <a:off x="4671657" y="581639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BUDGET</a:t>
            </a:r>
            <a:endParaRPr lang="en-US" sz="14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BECFFDF5-EAEA-8745-E145-57CCF747E4BD}"/>
              </a:ext>
            </a:extLst>
          </p:cNvPr>
          <p:cNvSpPr/>
          <p:nvPr/>
        </p:nvSpPr>
        <p:spPr>
          <a:xfrm>
            <a:off x="7506297" y="581639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BUDGET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8384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768723-2798-A5CB-0D2D-9898EFBB2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005AD08-8808-E81D-6E7C-044C1CAEE847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8AB318-4722-145E-51C2-A4899E8E8C9D}"/>
              </a:ext>
            </a:extLst>
          </p:cNvPr>
          <p:cNvSpPr/>
          <p:nvPr/>
        </p:nvSpPr>
        <p:spPr>
          <a:xfrm>
            <a:off x="457199" y="137160"/>
            <a:ext cx="120485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BY CHANNEL PERFORMANCE - EU</a:t>
            </a:r>
            <a:endParaRPr lang="en-US" sz="26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CD071C3-7052-0887-084B-5F0EA2794D7B}"/>
              </a:ext>
            </a:extLst>
          </p:cNvPr>
          <p:cNvGraphicFramePr/>
          <p:nvPr/>
        </p:nvGraphicFramePr>
        <p:xfrm>
          <a:off x="366939" y="1376516"/>
          <a:ext cx="4470532" cy="3470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5" name="Chart 24">
            <a:extLst>
              <a:ext uri="{FF2B5EF4-FFF2-40B4-BE49-F238E27FC236}">
                <a16:creationId xmlns:a16="http://schemas.microsoft.com/office/drawing/2014/main" id="{CD987C03-0762-9796-C82E-39735FAF7309}"/>
              </a:ext>
            </a:extLst>
          </p:cNvPr>
          <p:cNvGraphicFramePr/>
          <p:nvPr/>
        </p:nvGraphicFramePr>
        <p:xfrm>
          <a:off x="5102942" y="1376516"/>
          <a:ext cx="6810707" cy="4357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31124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CD2A390-CF78-1F2B-4253-7B0E1DBC5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18B0E3-26B5-DF2C-7F91-D4298A0393BB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20816F9-A912-4B47-E709-4B77B2A9F85C}"/>
              </a:ext>
            </a:extLst>
          </p:cNvPr>
          <p:cNvSpPr/>
          <p:nvPr/>
        </p:nvSpPr>
        <p:spPr>
          <a:xfrm>
            <a:off x="457199" y="137160"/>
            <a:ext cx="120485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GROSS MARGIN CHANNEL PERFORMANCE - EU</a:t>
            </a:r>
            <a:endParaRPr lang="en-US" sz="260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BB7A6A2-EA27-25E8-67C1-9B4CD46EA482}"/>
              </a:ext>
            </a:extLst>
          </p:cNvPr>
          <p:cNvGraphicFramePr/>
          <p:nvPr/>
        </p:nvGraphicFramePr>
        <p:xfrm>
          <a:off x="463146" y="868680"/>
          <a:ext cx="11262659" cy="32214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2">
            <a:extLst>
              <a:ext uri="{FF2B5EF4-FFF2-40B4-BE49-F238E27FC236}">
                <a16:creationId xmlns:a16="http://schemas.microsoft.com/office/drawing/2014/main" id="{03AF8BCE-18CD-8596-C261-10815170BC9B}"/>
              </a:ext>
            </a:extLst>
          </p:cNvPr>
          <p:cNvSpPr/>
          <p:nvPr/>
        </p:nvSpPr>
        <p:spPr>
          <a:xfrm>
            <a:off x="2318248" y="4476815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1A8DE7-C78D-AB49-2257-E9F0190BBC71}"/>
              </a:ext>
            </a:extLst>
          </p:cNvPr>
          <p:cNvSpPr/>
          <p:nvPr/>
        </p:nvSpPr>
        <p:spPr>
          <a:xfrm>
            <a:off x="2409688" y="456825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ACCOUNTS</a:t>
            </a:r>
            <a:endParaRPr lang="en-US" sz="140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A09A267-57AE-D856-FDCE-644F177A4515}"/>
              </a:ext>
            </a:extLst>
          </p:cNvPr>
          <p:cNvSpPr/>
          <p:nvPr/>
        </p:nvSpPr>
        <p:spPr>
          <a:xfrm>
            <a:off x="2409688" y="4979735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cs typeface="Arial Black" pitchFamily="34" charset="-120"/>
              </a:rPr>
              <a:t>53%</a:t>
            </a:r>
            <a:endParaRPr lang="en-US" sz="36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424CE17-E4AC-5A46-354A-81B32AD633AA}"/>
              </a:ext>
            </a:extLst>
          </p:cNvPr>
          <p:cNvSpPr/>
          <p:nvPr/>
        </p:nvSpPr>
        <p:spPr>
          <a:xfrm>
            <a:off x="5061448" y="4476815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8E250DB-DA90-CA03-ECCD-5F8EAADED888}"/>
              </a:ext>
            </a:extLst>
          </p:cNvPr>
          <p:cNvSpPr/>
          <p:nvPr/>
        </p:nvSpPr>
        <p:spPr>
          <a:xfrm>
            <a:off x="5152888" y="456825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SPECIALITY TOP 10</a:t>
            </a:r>
            <a:endParaRPr lang="en-US" sz="140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576A383-1E3B-D840-5B46-62E5A9F72032}"/>
              </a:ext>
            </a:extLst>
          </p:cNvPr>
          <p:cNvSpPr/>
          <p:nvPr/>
        </p:nvSpPr>
        <p:spPr>
          <a:xfrm>
            <a:off x="5152888" y="4979735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6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1A653A71-C4B1-DA5F-B210-66C8A1778956}"/>
              </a:ext>
            </a:extLst>
          </p:cNvPr>
          <p:cNvSpPr/>
          <p:nvPr/>
        </p:nvSpPr>
        <p:spPr>
          <a:xfrm>
            <a:off x="7804648" y="4476815"/>
            <a:ext cx="2560320" cy="1828800"/>
          </a:xfrm>
          <a:prstGeom prst="rect">
            <a:avLst/>
          </a:prstGeom>
          <a:solidFill>
            <a:srgbClr val="F5F7FA"/>
          </a:solidFill>
          <a:ln w="25400">
            <a:solidFill>
              <a:srgbClr val="0099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3B6E1F6-98AD-CA95-47E5-5E24033CC532}"/>
              </a:ext>
            </a:extLst>
          </p:cNvPr>
          <p:cNvSpPr/>
          <p:nvPr/>
        </p:nvSpPr>
        <p:spPr>
          <a:xfrm>
            <a:off x="7896088" y="4568255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033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</a:t>
            </a:r>
            <a:endParaRPr lang="en-US" sz="140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8A47871-9CF6-5A96-6D52-FF5589378973}"/>
              </a:ext>
            </a:extLst>
          </p:cNvPr>
          <p:cNvSpPr/>
          <p:nvPr/>
        </p:nvSpPr>
        <p:spPr>
          <a:xfrm>
            <a:off x="7896088" y="4979735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33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52%</a:t>
            </a:r>
            <a:endParaRPr lang="en-US" sz="36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D8342AB-3346-E494-8658-68D5EF02EDAC}"/>
              </a:ext>
            </a:extLst>
          </p:cNvPr>
          <p:cNvSpPr/>
          <p:nvPr/>
        </p:nvSpPr>
        <p:spPr>
          <a:xfrm>
            <a:off x="2409688" y="5668225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GM%</a:t>
            </a:r>
            <a:endParaRPr lang="en-US" sz="140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E4B9386-5A16-2992-C860-8E5DEA9E11F5}"/>
              </a:ext>
            </a:extLst>
          </p:cNvPr>
          <p:cNvSpPr/>
          <p:nvPr/>
        </p:nvSpPr>
        <p:spPr>
          <a:xfrm>
            <a:off x="5152888" y="5629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GM%</a:t>
            </a:r>
            <a:endParaRPr lang="en-US" sz="14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B12DA294-01BF-7147-55D8-69EBE6D86485}"/>
              </a:ext>
            </a:extLst>
          </p:cNvPr>
          <p:cNvSpPr/>
          <p:nvPr/>
        </p:nvSpPr>
        <p:spPr>
          <a:xfrm>
            <a:off x="7896088" y="5629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6A7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GM%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056557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6: EUROPEAN TEAM PERFORMANCE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EU rep data coming next week</a:t>
            </a:r>
            <a:endParaRPr lang="en-US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7: EU TEAM - CATEGORY LEADERS</a:t>
            </a:r>
            <a:endParaRPr lang="en-US" sz="280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category breakdowns coming next week</a:t>
            </a:r>
            <a:endParaRPr 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BE5B9-72C1-F0C6-F9C6-76ED79D69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1A2A2FF-5AD6-28F4-5BB6-58A7D70DD05A}"/>
              </a:ext>
            </a:extLst>
          </p:cNvPr>
          <p:cNvSpPr/>
          <p:nvPr/>
        </p:nvSpPr>
        <p:spPr>
          <a:xfrm>
            <a:off x="0" y="0"/>
            <a:ext cx="12188952" cy="73152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E01A41B-7EE4-F066-F9FD-1E41CD54529D}"/>
              </a:ext>
            </a:extLst>
          </p:cNvPr>
          <p:cNvSpPr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APPENDIX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D36F3E-B9D1-BCA0-9E83-94BE145D25F2}"/>
              </a:ext>
            </a:extLst>
          </p:cNvPr>
          <p:cNvSpPr/>
          <p:nvPr/>
        </p:nvSpPr>
        <p:spPr>
          <a:xfrm>
            <a:off x="1828800" y="27432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TBC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33527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506</Words>
  <Application>Microsoft Office PowerPoint</Application>
  <PresentationFormat>Widescreen</PresentationFormat>
  <Paragraphs>202</Paragraphs>
  <Slides>16</Slides>
  <Notes>15</Notes>
  <HiddenSlides>5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 Narrow</vt:lpstr>
      <vt:lpstr>Arial</vt:lpstr>
      <vt:lpstr>Arial Black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Cole Chapman</cp:lastModifiedBy>
  <cp:revision>2</cp:revision>
  <dcterms:created xsi:type="dcterms:W3CDTF">2026-02-19T17:20:44Z</dcterms:created>
  <dcterms:modified xsi:type="dcterms:W3CDTF">2026-03-02T17:02:35Z</dcterms:modified>
</cp:coreProperties>
</file>